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43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3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4954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0"/>
            <a:ext cx="5242255" cy="6858000"/>
          </a:xfrm>
          <a:prstGeom prst="rect">
            <a:avLst/>
          </a:prstGeom>
          <a:solidFill>
            <a:srgbClr val="102E3B"/>
          </a:solidFill>
          <a:ln w="12700">
            <a:solidFill>
              <a:srgbClr val="0E6E6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87552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code-any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源码分析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49808" y="23317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DCE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 Claude Code 风格终端编程代理的最小可运行实现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86384" y="3127248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B75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3118104"/>
            <a:ext cx="4992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EF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面向技术团队的架构与源码解构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6384" y="3547872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B75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3538728"/>
            <a:ext cx="4992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EF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按实际调用链拆出关键模块与设计取舍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86384" y="3968496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B75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959352"/>
            <a:ext cx="4992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EF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重点关注 Explore、上下文预算、工具边界与测试</a:t>
            </a:r>
            <a:endParaRPr lang="en-US" sz="1400" dirty="0"/>
          </a:p>
        </p:txBody>
      </p:sp>
      <p:pic>
        <p:nvPicPr>
          <p:cNvPr id="12" name="Image 0" descr="/System/Volumes/Data/work/dist/branch/my/my-code/code-any/assets/demo.png"/>
          <p:cNvPicPr>
            <a:picLocks noChangeAspect="1"/>
          </p:cNvPicPr>
          <p:nvPr/>
        </p:nvPicPr>
        <p:blipFill>
          <a:blip r:embed="rId3"/>
          <a:srcRect l="12694" r="12694"/>
          <a:stretch/>
        </p:blipFill>
        <p:spPr>
          <a:xfrm>
            <a:off x="7269480" y="640080"/>
            <a:ext cx="4343400" cy="523036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461504" y="5961888"/>
            <a:ext cx="3931920" cy="493776"/>
          </a:xfrm>
          <a:prstGeom prst="roundRect">
            <a:avLst>
              <a:gd name="adj" fmla="val 14815"/>
            </a:avLst>
          </a:prstGeom>
          <a:solidFill>
            <a:srgbClr val="F4F1EA"/>
          </a:solidFill>
          <a:ln w="12700">
            <a:solidFill>
              <a:srgbClr val="F4F1EA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80960" y="6117336"/>
            <a:ext cx="3566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 页 / 平衡型结构 / 适合内部技术分享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58368" y="6455664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BDC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code-any / source analysis / 2026-04-01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E"/>
          </a:solidFill>
          <a:ln w="12700">
            <a:solidFill>
              <a:srgbClr val="0E6E6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8404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PROJECT POSITIONING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12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01 这到底是什么项目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225296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不是聊天 CLI，而是一个面向 coding workflow 的 agent 骨架。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064240" y="38404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B87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" y="1783080"/>
            <a:ext cx="4709160" cy="4041648"/>
          </a:xfrm>
          <a:prstGeom prst="roundRect">
            <a:avLst>
              <a:gd name="adj" fmla="val 1810"/>
            </a:avLst>
          </a:prstGeom>
          <a:solidFill>
            <a:srgbClr val="FFFDF8"/>
          </a:solidFill>
          <a:ln w="12700">
            <a:solidFill>
              <a:srgbClr val="D7D0C4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011680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README 给出的四个核心关键词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32688" y="2395728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52144" y="2386584"/>
            <a:ext cx="3758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循环：模型与工具多轮往返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32688" y="2816352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52144" y="2807208"/>
            <a:ext cx="3758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上下文工程：预算感知裁剪，控制噪声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32688" y="3236976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52144" y="3227832"/>
            <a:ext cx="3758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Explore 子代理：先低成本收集上下文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32688" y="3657600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52144" y="3648456"/>
            <a:ext cx="3758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工具输出分离：原始输出留本地，摘要进模型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623560" y="1783080"/>
            <a:ext cx="5907024" cy="4041648"/>
          </a:xfrm>
          <a:prstGeom prst="roundRect">
            <a:avLst>
              <a:gd name="adj" fmla="val 1810"/>
            </a:avLst>
          </a:prstGeom>
          <a:solidFill>
            <a:srgbClr val="FFF9F2"/>
          </a:solidFill>
          <a:ln w="12700">
            <a:solidFill>
              <a:srgbClr val="D7D0C4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870448" y="20116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一句话理解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870448" y="2395728"/>
            <a:ext cx="5175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code-any 用很少的 TypeScript 代码，把一个 coding agent 最关键的运行约束完整串了起来：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870448" y="3054096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089904" y="3044952"/>
            <a:ext cx="4736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终端 REPL 交互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870448" y="3474720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089904" y="3465576"/>
            <a:ext cx="4736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流式 provider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870448" y="3895344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089904" y="3886200"/>
            <a:ext cx="4736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工具注册与执行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870448" y="4315968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089904" y="4306824"/>
            <a:ext cx="4736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审批与 yolo 模式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870448" y="4736592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089904" y="4727448"/>
            <a:ext cx="4736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子代理探索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870448" y="5157216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089904" y="5148072"/>
            <a:ext cx="4736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上下文裁剪和消息构建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870448" y="5431536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这使它更像“教学级架构样板”，而不是“产品功能堆叠”。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58368" y="6455664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BDC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code-any / source analysis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E"/>
          </a:solidFill>
          <a:ln w="12700">
            <a:solidFill>
              <a:srgbClr val="0E6E6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8404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REPO SNAPSHOT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12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02 代码库轮廓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225296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从体量和目录结构看，它明显是一个“收敛范围”的实验性实现。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064240" y="38404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B87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FFFDF8"/>
          </a:solidFill>
          <a:ln w="12700">
            <a:solidFill>
              <a:srgbClr val="D7D0C4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69264" y="1929384"/>
            <a:ext cx="73152" cy="850392"/>
          </a:xfrm>
          <a:prstGeom prst="rect">
            <a:avLst/>
          </a:prstGeom>
          <a:solidFill>
            <a:srgbClr val="0E6E6E"/>
          </a:solidFill>
          <a:ln w="12700">
            <a:solidFill>
              <a:srgbClr val="0E6E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2144" y="2039112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65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52144" y="2441448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TS 文件总数（src + tests）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178308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FFFDF8"/>
          </a:solidFill>
          <a:ln w="12700">
            <a:solidFill>
              <a:srgbClr val="D7D0C4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46704" y="1929384"/>
            <a:ext cx="73152" cy="850392"/>
          </a:xfrm>
          <a:prstGeom prst="rect">
            <a:avLst/>
          </a:prstGeom>
          <a:solidFill>
            <a:srgbClr val="D86C45"/>
          </a:solidFill>
          <a:ln w="12700">
            <a:solidFill>
              <a:srgbClr val="D86C45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9584" y="2039112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2581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529584" y="2441448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源码行数（src）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577840" y="178308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FFFDF8"/>
          </a:solidFill>
          <a:ln w="12700">
            <a:solidFill>
              <a:srgbClr val="D7D0C4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24144" y="1929384"/>
            <a:ext cx="73152" cy="850392"/>
          </a:xfrm>
          <a:prstGeom prst="rect">
            <a:avLst/>
          </a:prstGeom>
          <a:solidFill>
            <a:srgbClr val="1E3F66"/>
          </a:solidFill>
          <a:ln w="12700">
            <a:solidFill>
              <a:srgbClr val="1E3F6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07024" y="2039112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1666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907024" y="2441448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测试行数（tests）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955280" y="178308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FFFDF8"/>
          </a:solidFill>
          <a:ln w="12700">
            <a:solidFill>
              <a:srgbClr val="D7D0C4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01584" y="1929384"/>
            <a:ext cx="73152" cy="850392"/>
          </a:xfrm>
          <a:prstGeom prst="rect">
            <a:avLst/>
          </a:prstGeom>
          <a:solidFill>
            <a:srgbClr val="F0B759"/>
          </a:solidFill>
          <a:ln w="12700">
            <a:solidFill>
              <a:srgbClr val="F0B759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84464" y="2039112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6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284464" y="2441448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内置工具数量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332720" y="1783080"/>
            <a:ext cx="1051560" cy="1143000"/>
          </a:xfrm>
          <a:prstGeom prst="roundRect">
            <a:avLst>
              <a:gd name="adj" fmla="val 6957"/>
            </a:avLst>
          </a:prstGeom>
          <a:solidFill>
            <a:srgbClr val="FFFDF8"/>
          </a:solidFill>
          <a:ln w="12700">
            <a:solidFill>
              <a:srgbClr val="D7D0C4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479024" y="1929384"/>
            <a:ext cx="73152" cy="850392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61904" y="2039112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661904" y="244144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Provider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41248" y="3246120"/>
            <a:ext cx="4800600" cy="2450592"/>
          </a:xfrm>
          <a:prstGeom prst="roundRect">
            <a:avLst>
              <a:gd name="adj" fmla="val 2985"/>
            </a:avLst>
          </a:prstGeom>
          <a:solidFill>
            <a:srgbClr val="FFFDF8"/>
          </a:solidFill>
          <a:ln w="12700">
            <a:solidFill>
              <a:srgbClr val="D7D0C4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078992" y="34930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目录责任拆分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78992" y="3822192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80" dirty="0"/>
          </a:p>
        </p:txBody>
      </p:sp>
      <p:sp>
        <p:nvSpPr>
          <p:cNvPr id="31" name="Text 29"/>
          <p:cNvSpPr/>
          <p:nvPr/>
        </p:nvSpPr>
        <p:spPr>
          <a:xfrm>
            <a:off x="1298448" y="3813048"/>
            <a:ext cx="4032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cli：REPL、命令解析、终端渲染、启动参数</a:t>
            </a:r>
            <a:endParaRPr lang="en-US" sz="1280" dirty="0"/>
          </a:p>
        </p:txBody>
      </p:sp>
      <p:sp>
        <p:nvSpPr>
          <p:cNvPr id="32" name="Text 30"/>
          <p:cNvSpPr/>
          <p:nvPr/>
        </p:nvSpPr>
        <p:spPr>
          <a:xfrm>
            <a:off x="1078992" y="4242816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80" dirty="0"/>
          </a:p>
        </p:txBody>
      </p:sp>
      <p:sp>
        <p:nvSpPr>
          <p:cNvPr id="33" name="Text 31"/>
          <p:cNvSpPr/>
          <p:nvPr/>
        </p:nvSpPr>
        <p:spPr>
          <a:xfrm>
            <a:off x="1298448" y="4233672"/>
            <a:ext cx="4032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agent：主循环、审批、任务整形、Explore 子代理</a:t>
            </a:r>
            <a:endParaRPr lang="en-US" sz="1280" dirty="0"/>
          </a:p>
        </p:txBody>
      </p:sp>
      <p:sp>
        <p:nvSpPr>
          <p:cNvPr id="34" name="Text 32"/>
          <p:cNvSpPr/>
          <p:nvPr/>
        </p:nvSpPr>
        <p:spPr>
          <a:xfrm>
            <a:off x="1078992" y="4663440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80" dirty="0"/>
          </a:p>
        </p:txBody>
      </p:sp>
      <p:sp>
        <p:nvSpPr>
          <p:cNvPr id="35" name="Text 33"/>
          <p:cNvSpPr/>
          <p:nvPr/>
        </p:nvSpPr>
        <p:spPr>
          <a:xfrm>
            <a:off x="1298448" y="4654296"/>
            <a:ext cx="4032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context：预算控制、消息构建、结果裁剪</a:t>
            </a:r>
            <a:endParaRPr lang="en-US" sz="1280" dirty="0"/>
          </a:p>
        </p:txBody>
      </p:sp>
      <p:sp>
        <p:nvSpPr>
          <p:cNvPr id="36" name="Text 34"/>
          <p:cNvSpPr/>
          <p:nvPr/>
        </p:nvSpPr>
        <p:spPr>
          <a:xfrm>
            <a:off x="1078992" y="5084064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80" dirty="0"/>
          </a:p>
        </p:txBody>
      </p:sp>
      <p:sp>
        <p:nvSpPr>
          <p:cNvPr id="37" name="Text 35"/>
          <p:cNvSpPr/>
          <p:nvPr/>
        </p:nvSpPr>
        <p:spPr>
          <a:xfrm>
            <a:off x="1298448" y="5074920"/>
            <a:ext cx="4032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provider：Anthropic SDK 与流式事件映射</a:t>
            </a:r>
            <a:endParaRPr lang="en-US" sz="1280" dirty="0"/>
          </a:p>
        </p:txBody>
      </p:sp>
      <p:sp>
        <p:nvSpPr>
          <p:cNvPr id="38" name="Text 36"/>
          <p:cNvSpPr/>
          <p:nvPr/>
        </p:nvSpPr>
        <p:spPr>
          <a:xfrm>
            <a:off x="1078992" y="5504688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80" dirty="0"/>
          </a:p>
        </p:txBody>
      </p:sp>
      <p:sp>
        <p:nvSpPr>
          <p:cNvPr id="39" name="Text 37"/>
          <p:cNvSpPr/>
          <p:nvPr/>
        </p:nvSpPr>
        <p:spPr>
          <a:xfrm>
            <a:off x="1298448" y="5495544"/>
            <a:ext cx="4032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tools：6 个工作区工具与统一注册表</a:t>
            </a:r>
            <a:endParaRPr lang="en-US" sz="1280" dirty="0"/>
          </a:p>
        </p:txBody>
      </p:sp>
      <p:sp>
        <p:nvSpPr>
          <p:cNvPr id="40" name="Text 38"/>
          <p:cNvSpPr/>
          <p:nvPr/>
        </p:nvSpPr>
        <p:spPr>
          <a:xfrm>
            <a:off x="1078992" y="5925312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80" dirty="0"/>
          </a:p>
        </p:txBody>
      </p:sp>
      <p:sp>
        <p:nvSpPr>
          <p:cNvPr id="41" name="Text 39"/>
          <p:cNvSpPr/>
          <p:nvPr/>
        </p:nvSpPr>
        <p:spPr>
          <a:xfrm>
            <a:off x="1298448" y="5916168"/>
            <a:ext cx="4032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tests：单测 + 集成测试双层保护</a:t>
            </a:r>
            <a:endParaRPr lang="en-US" sz="1280" dirty="0"/>
          </a:p>
        </p:txBody>
      </p:sp>
      <p:sp>
        <p:nvSpPr>
          <p:cNvPr id="42" name="Shape 40"/>
          <p:cNvSpPr/>
          <p:nvPr/>
        </p:nvSpPr>
        <p:spPr>
          <a:xfrm>
            <a:off x="5943600" y="3246120"/>
            <a:ext cx="2057400" cy="2450592"/>
          </a:xfrm>
          <a:prstGeom prst="roundRect">
            <a:avLst>
              <a:gd name="adj" fmla="val 3556"/>
            </a:avLst>
          </a:prstGeom>
          <a:solidFill>
            <a:srgbClr val="151B23"/>
          </a:solidFill>
          <a:ln w="12700">
            <a:solidFill>
              <a:srgbClr val="2B3542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126480" y="3374136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5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src/ 目录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126480" y="3630168"/>
            <a:ext cx="1691640" cy="1938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src/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agent/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cli/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context/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provider/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tools/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utils/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index.ts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211312" y="3246120"/>
            <a:ext cx="1920240" cy="2450592"/>
          </a:xfrm>
          <a:prstGeom prst="roundRect">
            <a:avLst>
              <a:gd name="adj" fmla="val 3810"/>
            </a:avLst>
          </a:prstGeom>
          <a:solidFill>
            <a:srgbClr val="151B23"/>
          </a:solidFill>
          <a:ln w="12700">
            <a:solidFill>
              <a:srgbClr val="2B3542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8394192" y="3374136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5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tests/ 目录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394192" y="3630168"/>
            <a:ext cx="1554480" cy="1938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tests/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agent/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cli/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context/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integration/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provider/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tools/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utils/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10369296" y="3246120"/>
            <a:ext cx="1188720" cy="2450592"/>
          </a:xfrm>
          <a:prstGeom prst="roundRect">
            <a:avLst>
              <a:gd name="adj" fmla="val 6154"/>
            </a:avLst>
          </a:prstGeom>
          <a:solidFill>
            <a:srgbClr val="F6F1E6"/>
          </a:solidFill>
          <a:ln w="12700">
            <a:solidFill>
              <a:srgbClr val="D7D0C4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10543032" y="352958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判断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0533888" y="3895344"/>
            <a:ext cx="749808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模块分工已经比较成熟，但 provider 和工具生态仍刻意收缩，目的是让主线设计保持清晰。</a:t>
            </a:r>
            <a:endParaRPr lang="en-US" sz="1020" dirty="0"/>
          </a:p>
        </p:txBody>
      </p:sp>
      <p:sp>
        <p:nvSpPr>
          <p:cNvPr id="51" name="Text 49"/>
          <p:cNvSpPr/>
          <p:nvPr/>
        </p:nvSpPr>
        <p:spPr>
          <a:xfrm>
            <a:off x="658368" y="6455664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BDC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code-any / source analysis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E"/>
          </a:solidFill>
          <a:ln w="12700">
            <a:solidFill>
              <a:srgbClr val="0E6E6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8404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BOOTSTRAP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12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03 启动与装配路径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225296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入口文件本身很薄，价值在于把运行时依赖一次性装配完整。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064240" y="38404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B87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49808" y="182880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8EEE7"/>
          </a:solidFill>
          <a:ln w="12700">
            <a:solidFill>
              <a:srgbClr val="E3C5B5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96112" y="1956816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CLI Flags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2212848"/>
            <a:ext cx="13533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解析 --help / --version / --model / --yolo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97480" y="182880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EEF7F3"/>
          </a:solidFill>
          <a:ln w="12700">
            <a:solidFill>
              <a:srgbClr val="BED7C7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843784" y="1956816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Config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43784" y="2212848"/>
            <a:ext cx="13533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读取 cwd、模型、token 与审批模式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45152" y="182880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EEF4FA"/>
          </a:solidFill>
          <a:ln w="12700">
            <a:solidFill>
              <a:srgbClr val="C4D4E8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91456" y="1956816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Context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91456" y="2212848"/>
            <a:ext cx="13533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创建 ContextBudgetManager 与 ToolContext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92824" y="182880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8EEE7"/>
          </a:solidFill>
          <a:ln w="12700">
            <a:solidFill>
              <a:srgbClr val="E3C5B5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39128" y="1956816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Provider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39128" y="2212848"/>
            <a:ext cx="13533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包装 Anthropic SDK 与流式事件源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540496" y="182880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EEF7F3"/>
          </a:solidFill>
          <a:ln w="12700">
            <a:solidFill>
              <a:srgbClr val="BED7C7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0" y="1956816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Session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0" y="2212848"/>
            <a:ext cx="13533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记录模型、审批状态、消息历史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488168" y="1828800"/>
            <a:ext cx="960120" cy="914400"/>
          </a:xfrm>
          <a:prstGeom prst="roundRect">
            <a:avLst>
              <a:gd name="adj" fmla="val 8000"/>
            </a:avLst>
          </a:prstGeom>
          <a:solidFill>
            <a:srgbClr val="EEF4FA"/>
          </a:solidFill>
          <a:ln w="12700">
            <a:solidFill>
              <a:srgbClr val="C4D4E8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634472" y="1956816"/>
            <a:ext cx="667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REPL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634472" y="2212848"/>
            <a:ext cx="6675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进入交互循环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395728" y="2286000"/>
            <a:ext cx="301752" cy="0"/>
          </a:xfrm>
          <a:prstGeom prst="line">
            <a:avLst/>
          </a:prstGeom>
          <a:noFill/>
          <a:ln w="12700">
            <a:solidFill>
              <a:srgbClr val="1E3F66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343400" y="2286000"/>
            <a:ext cx="301752" cy="0"/>
          </a:xfrm>
          <a:prstGeom prst="line">
            <a:avLst/>
          </a:prstGeom>
          <a:noFill/>
          <a:ln w="12700">
            <a:solidFill>
              <a:srgbClr val="1E3F6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291072" y="2286000"/>
            <a:ext cx="301752" cy="0"/>
          </a:xfrm>
          <a:prstGeom prst="line">
            <a:avLst/>
          </a:prstGeom>
          <a:noFill/>
          <a:ln w="12700">
            <a:solidFill>
              <a:srgbClr val="1E3F6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238744" y="2286000"/>
            <a:ext cx="301752" cy="0"/>
          </a:xfrm>
          <a:prstGeom prst="line">
            <a:avLst/>
          </a:prstGeom>
          <a:noFill/>
          <a:ln w="12700">
            <a:solidFill>
              <a:srgbClr val="1E3F66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186416" y="2286000"/>
            <a:ext cx="301752" cy="0"/>
          </a:xfrm>
          <a:prstGeom prst="line">
            <a:avLst/>
          </a:prstGeom>
          <a:noFill/>
          <a:ln w="12700">
            <a:solidFill>
              <a:srgbClr val="1E3F66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41248" y="3749040"/>
            <a:ext cx="4892040" cy="2011680"/>
          </a:xfrm>
          <a:prstGeom prst="roundRect">
            <a:avLst>
              <a:gd name="adj" fmla="val 3636"/>
            </a:avLst>
          </a:prstGeom>
          <a:solidFill>
            <a:srgbClr val="151B23"/>
          </a:solidFill>
          <a:ln w="12700">
            <a:solidFill>
              <a:srgbClr val="2B3542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024128" y="3877056"/>
            <a:ext cx="4526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5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index.ts 的角色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024128" y="4133088"/>
            <a:ext cx="4526280" cy="1499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const budgetManager = new ContextBudgetManager();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const toolContext = createDefaultToolContext(...);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const registry = createToolRegistry();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const provider = createAnthropicProvider(...);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const session = createSessionState(...);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await runInteractiveRepl(...);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35040" y="3749040"/>
            <a:ext cx="5449824" cy="2011680"/>
          </a:xfrm>
          <a:prstGeom prst="roundRect">
            <a:avLst>
              <a:gd name="adj" fmla="val 3636"/>
            </a:avLst>
          </a:prstGeom>
          <a:solidFill>
            <a:srgbClr val="FFFDF8"/>
          </a:solidFill>
          <a:ln w="12700">
            <a:solidFill>
              <a:srgbClr val="D7D0C4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291072" y="398678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设计含义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291072" y="4352544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320" dirty="0"/>
          </a:p>
        </p:txBody>
      </p:sp>
      <p:sp>
        <p:nvSpPr>
          <p:cNvPr id="37" name="Text 35"/>
          <p:cNvSpPr/>
          <p:nvPr/>
        </p:nvSpPr>
        <p:spPr>
          <a:xfrm>
            <a:off x="6510528" y="4343400"/>
            <a:ext cx="4535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入口不承载业务逻辑，降低耦合。</a:t>
            </a:r>
            <a:endParaRPr lang="en-US" sz="1320" dirty="0"/>
          </a:p>
        </p:txBody>
      </p:sp>
      <p:sp>
        <p:nvSpPr>
          <p:cNvPr id="38" name="Text 36"/>
          <p:cNvSpPr/>
          <p:nvPr/>
        </p:nvSpPr>
        <p:spPr>
          <a:xfrm>
            <a:off x="6291072" y="4773168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320" dirty="0"/>
          </a:p>
        </p:txBody>
      </p:sp>
      <p:sp>
        <p:nvSpPr>
          <p:cNvPr id="39" name="Text 37"/>
          <p:cNvSpPr/>
          <p:nvPr/>
        </p:nvSpPr>
        <p:spPr>
          <a:xfrm>
            <a:off x="6510528" y="4764024"/>
            <a:ext cx="4535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上下文预算、工具上下文、provider、session 都是显式依赖。</a:t>
            </a:r>
            <a:endParaRPr lang="en-US" sz="1320" dirty="0"/>
          </a:p>
        </p:txBody>
      </p:sp>
      <p:sp>
        <p:nvSpPr>
          <p:cNvPr id="40" name="Text 38"/>
          <p:cNvSpPr/>
          <p:nvPr/>
        </p:nvSpPr>
        <p:spPr>
          <a:xfrm>
            <a:off x="6291072" y="5193792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320" dirty="0"/>
          </a:p>
        </p:txBody>
      </p:sp>
      <p:sp>
        <p:nvSpPr>
          <p:cNvPr id="41" name="Text 39"/>
          <p:cNvSpPr/>
          <p:nvPr/>
        </p:nvSpPr>
        <p:spPr>
          <a:xfrm>
            <a:off x="6510528" y="5184648"/>
            <a:ext cx="4535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后续替换 provider 或工具集时，不需要改 REPL 主结构。</a:t>
            </a:r>
            <a:endParaRPr lang="en-US" sz="1320" dirty="0"/>
          </a:p>
        </p:txBody>
      </p:sp>
      <p:sp>
        <p:nvSpPr>
          <p:cNvPr id="42" name="Text 40"/>
          <p:cNvSpPr/>
          <p:nvPr/>
        </p:nvSpPr>
        <p:spPr>
          <a:xfrm>
            <a:off x="658368" y="6455664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BDC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code-any / source analysis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E"/>
          </a:solidFill>
          <a:ln w="12700">
            <a:solidFill>
              <a:srgbClr val="0E6E6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8404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INTERACTION LAYER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12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04 交互层：REPL 与斜杠命令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225296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用户输入只有两类：控制命令，或交给 agent loop 的自然语言任务。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064240" y="38404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B87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1828800"/>
            <a:ext cx="3337560" cy="3886200"/>
          </a:xfrm>
          <a:prstGeom prst="roundRect">
            <a:avLst>
              <a:gd name="adj" fmla="val 2192"/>
            </a:avLst>
          </a:prstGeom>
          <a:solidFill>
            <a:srgbClr val="FFFDF8"/>
          </a:solidFill>
          <a:ln w="12700">
            <a:solidFill>
              <a:srgbClr val="D7D0C4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60704" y="204825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命令面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78992" y="2468880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98448" y="2459736"/>
            <a:ext cx="2386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/help / /tools / /model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78992" y="2889504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98448" y="2880360"/>
            <a:ext cx="2386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/approval / /diff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78992" y="3310128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98448" y="3300984"/>
            <a:ext cx="2386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/clear / /exit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78992" y="400507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这些命令不走模型，直接在本地处理。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407408" y="1828800"/>
            <a:ext cx="3611880" cy="3886200"/>
          </a:xfrm>
          <a:prstGeom prst="roundRect">
            <a:avLst>
              <a:gd name="adj" fmla="val 2025"/>
            </a:avLst>
          </a:prstGeom>
          <a:solidFill>
            <a:srgbClr val="F9F4EC"/>
          </a:solidFill>
          <a:ln w="12700">
            <a:solidFill>
              <a:srgbClr val="D7D0C4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63440" y="204825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输入分流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26864" y="2450592"/>
            <a:ext cx="3154680" cy="1554480"/>
          </a:xfrm>
          <a:prstGeom prst="roundRect">
            <a:avLst>
              <a:gd name="adj" fmla="val 4706"/>
            </a:avLst>
          </a:prstGeom>
          <a:solidFill>
            <a:srgbClr val="151B23"/>
          </a:solidFill>
          <a:ln w="12700">
            <a:solidFill>
              <a:srgbClr val="2B3542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09744" y="2578608"/>
            <a:ext cx="2788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5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commands.ts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09744" y="2834640"/>
            <a:ext cx="2788920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 (trimmed.startsWith('/'))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return { kind: 'command', name, args };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 { kind: 'prompt', text: input };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45152" y="4334256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这个分界很重要：把 REPL 控制面和 agent 推理面彻底分离。</a:t>
            </a:r>
            <a:endParaRPr lang="en-US" sz="1240" dirty="0"/>
          </a:p>
        </p:txBody>
      </p:sp>
      <p:sp>
        <p:nvSpPr>
          <p:cNvPr id="23" name="Shape 21"/>
          <p:cNvSpPr/>
          <p:nvPr/>
        </p:nvSpPr>
        <p:spPr>
          <a:xfrm>
            <a:off x="8247888" y="1828800"/>
            <a:ext cx="3291840" cy="3886200"/>
          </a:xfrm>
          <a:prstGeom prst="roundRect">
            <a:avLst>
              <a:gd name="adj" fmla="val 2222"/>
            </a:avLst>
          </a:prstGeom>
          <a:solidFill>
            <a:srgbClr val="FFFDF8"/>
          </a:solidFill>
          <a:ln w="12700">
            <a:solidFill>
              <a:srgbClr val="D7D0C4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485632" y="204825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运行时状态线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485632" y="2468880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80" dirty="0"/>
          </a:p>
        </p:txBody>
      </p:sp>
      <p:sp>
        <p:nvSpPr>
          <p:cNvPr id="26" name="Text 24"/>
          <p:cNvSpPr/>
          <p:nvPr/>
        </p:nvSpPr>
        <p:spPr>
          <a:xfrm>
            <a:off x="8705088" y="2459736"/>
            <a:ext cx="2478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启动时打印模型、审批模式和 yolo 状态</a:t>
            </a:r>
            <a:endParaRPr lang="en-US" sz="1280" dirty="0"/>
          </a:p>
        </p:txBody>
      </p:sp>
      <p:sp>
        <p:nvSpPr>
          <p:cNvPr id="27" name="Text 25"/>
          <p:cNvSpPr/>
          <p:nvPr/>
        </p:nvSpPr>
        <p:spPr>
          <a:xfrm>
            <a:off x="8485632" y="2889504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80" dirty="0"/>
          </a:p>
        </p:txBody>
      </p:sp>
      <p:sp>
        <p:nvSpPr>
          <p:cNvPr id="28" name="Text 26"/>
          <p:cNvSpPr/>
          <p:nvPr/>
        </p:nvSpPr>
        <p:spPr>
          <a:xfrm>
            <a:off x="8705088" y="2880360"/>
            <a:ext cx="2478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执行中持续渲染 progress line</a:t>
            </a:r>
            <a:endParaRPr lang="en-US" sz="1280" dirty="0"/>
          </a:p>
        </p:txBody>
      </p:sp>
      <p:sp>
        <p:nvSpPr>
          <p:cNvPr id="29" name="Text 27"/>
          <p:cNvSpPr/>
          <p:nvPr/>
        </p:nvSpPr>
        <p:spPr>
          <a:xfrm>
            <a:off x="8485632" y="3310128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80" dirty="0"/>
          </a:p>
        </p:txBody>
      </p:sp>
      <p:sp>
        <p:nvSpPr>
          <p:cNvPr id="30" name="Text 28"/>
          <p:cNvSpPr/>
          <p:nvPr/>
        </p:nvSpPr>
        <p:spPr>
          <a:xfrm>
            <a:off x="8705088" y="3300984"/>
            <a:ext cx="2478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脚本模式与交互模式共用同一套 runtime</a:t>
            </a:r>
            <a:endParaRPr lang="en-US" sz="1280" dirty="0"/>
          </a:p>
        </p:txBody>
      </p:sp>
      <p:sp>
        <p:nvSpPr>
          <p:cNvPr id="31" name="Text 29"/>
          <p:cNvSpPr/>
          <p:nvPr/>
        </p:nvSpPr>
        <p:spPr>
          <a:xfrm>
            <a:off x="658368" y="6455664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BDC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code-any / source analysis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E"/>
          </a:solidFill>
          <a:ln w="12700">
            <a:solidFill>
              <a:srgbClr val="0E6E6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8404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MAIN FLOW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12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05 一次任务如何跑完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225296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真正的主链路在 runAgentLoop：它决定先探索、再推理、再执行工具。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064240" y="38404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B87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240280"/>
            <a:ext cx="1298448" cy="822960"/>
          </a:xfrm>
          <a:prstGeom prst="roundRect">
            <a:avLst>
              <a:gd name="adj" fmla="val 8889"/>
            </a:avLst>
          </a:prstGeom>
          <a:solidFill>
            <a:srgbClr val="EEF4FA"/>
          </a:solidFill>
          <a:ln w="12700">
            <a:solidFill>
              <a:srgbClr val="C4D4E8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32104" y="236829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用户输入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32104" y="262432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984248" y="2651760"/>
            <a:ext cx="365760" cy="0"/>
          </a:xfrm>
          <a:prstGeom prst="line">
            <a:avLst/>
          </a:prstGeom>
          <a:noFill/>
          <a:ln w="12700">
            <a:solidFill>
              <a:srgbClr val="D86C4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350008" y="2240280"/>
            <a:ext cx="1298448" cy="822960"/>
          </a:xfrm>
          <a:prstGeom prst="roundRect">
            <a:avLst>
              <a:gd name="adj" fmla="val 8889"/>
            </a:avLst>
          </a:prstGeom>
          <a:solidFill>
            <a:srgbClr val="F8EEE7"/>
          </a:solidFill>
          <a:ln w="12700">
            <a:solidFill>
              <a:srgbClr val="E3C5B5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96312" y="2368296"/>
            <a:ext cx="115214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shapeTask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96312" y="262432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48456" y="2651760"/>
            <a:ext cx="365760" cy="0"/>
          </a:xfrm>
          <a:prstGeom prst="line">
            <a:avLst/>
          </a:prstGeom>
          <a:noFill/>
          <a:ln w="12700">
            <a:solidFill>
              <a:srgbClr val="D86C4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014216" y="2240280"/>
            <a:ext cx="1298448" cy="822960"/>
          </a:xfrm>
          <a:prstGeom prst="roundRect">
            <a:avLst>
              <a:gd name="adj" fmla="val 8889"/>
            </a:avLst>
          </a:prstGeom>
          <a:solidFill>
            <a:srgbClr val="EEF4FA"/>
          </a:solidFill>
          <a:ln w="12700">
            <a:solidFill>
              <a:srgbClr val="C4D4E8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60520" y="236829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Explore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60520" y="262432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312664" y="2651760"/>
            <a:ext cx="365760" cy="0"/>
          </a:xfrm>
          <a:prstGeom prst="line">
            <a:avLst/>
          </a:prstGeom>
          <a:noFill/>
          <a:ln w="12700">
            <a:solidFill>
              <a:srgbClr val="D86C4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678424" y="2240280"/>
            <a:ext cx="1298448" cy="822960"/>
          </a:xfrm>
          <a:prstGeom prst="roundRect">
            <a:avLst>
              <a:gd name="adj" fmla="val 8889"/>
            </a:avLst>
          </a:prstGeom>
          <a:solidFill>
            <a:srgbClr val="F8EEE7"/>
          </a:solidFill>
          <a:ln w="12700">
            <a:solidFill>
              <a:srgbClr val="E3C5B5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824728" y="236829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主模型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824728" y="262432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976872" y="2651760"/>
            <a:ext cx="365760" cy="0"/>
          </a:xfrm>
          <a:prstGeom prst="line">
            <a:avLst/>
          </a:prstGeom>
          <a:noFill/>
          <a:ln w="12700">
            <a:solidFill>
              <a:srgbClr val="D86C4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342632" y="2240280"/>
            <a:ext cx="1298448" cy="822960"/>
          </a:xfrm>
          <a:prstGeom prst="roundRect">
            <a:avLst>
              <a:gd name="adj" fmla="val 8889"/>
            </a:avLst>
          </a:prstGeom>
          <a:solidFill>
            <a:srgbClr val="EEF4FA"/>
          </a:solidFill>
          <a:ln w="12700">
            <a:solidFill>
              <a:srgbClr val="C4D4E8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42632" y="2359152"/>
            <a:ext cx="1298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ToolRegistry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88936" y="262432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641080" y="2651760"/>
            <a:ext cx="365760" cy="0"/>
          </a:xfrm>
          <a:prstGeom prst="line">
            <a:avLst/>
          </a:prstGeom>
          <a:noFill/>
          <a:ln w="12700">
            <a:solidFill>
              <a:srgbClr val="D86C45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06840" y="2240280"/>
            <a:ext cx="1298448" cy="822960"/>
          </a:xfrm>
          <a:prstGeom prst="roundRect">
            <a:avLst>
              <a:gd name="adj" fmla="val 8889"/>
            </a:avLst>
          </a:prstGeom>
          <a:solidFill>
            <a:srgbClr val="F8EEE7"/>
          </a:solidFill>
          <a:ln w="12700">
            <a:solidFill>
              <a:srgbClr val="E3C5B5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153144" y="236829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回填消息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53144" y="262432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0305288" y="2651760"/>
            <a:ext cx="365760" cy="0"/>
          </a:xfrm>
          <a:prstGeom prst="line">
            <a:avLst/>
          </a:prstGeom>
          <a:noFill/>
          <a:ln w="12700">
            <a:solidFill>
              <a:srgbClr val="D86C45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671048" y="2240280"/>
            <a:ext cx="1298448" cy="822960"/>
          </a:xfrm>
          <a:prstGeom prst="roundRect">
            <a:avLst>
              <a:gd name="adj" fmla="val 8889"/>
            </a:avLst>
          </a:prstGeom>
          <a:solidFill>
            <a:srgbClr val="EEF4FA"/>
          </a:solidFill>
          <a:ln w="12700">
            <a:solidFill>
              <a:srgbClr val="C4D4E8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0817352" y="236829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最终回答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817352" y="262432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22960" y="3794760"/>
            <a:ext cx="5166360" cy="1874520"/>
          </a:xfrm>
          <a:prstGeom prst="roundRect">
            <a:avLst>
              <a:gd name="adj" fmla="val 3902"/>
            </a:avLst>
          </a:prstGeom>
          <a:solidFill>
            <a:srgbClr val="FFFDF8"/>
          </a:solidFill>
          <a:ln w="12700">
            <a:solidFill>
              <a:srgbClr val="D7D0C4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078992" y="40416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主循环做了三件事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078992" y="4407408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70" dirty="0"/>
          </a:p>
        </p:txBody>
      </p:sp>
      <p:sp>
        <p:nvSpPr>
          <p:cNvPr id="38" name="Text 36"/>
          <p:cNvSpPr/>
          <p:nvPr/>
        </p:nvSpPr>
        <p:spPr>
          <a:xfrm>
            <a:off x="1298448" y="4398264"/>
            <a:ext cx="4352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7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维护 session 消息历史，并在每轮发送前通过 budget manager 裁剪。</a:t>
            </a:r>
            <a:endParaRPr lang="en-US" sz="1270" dirty="0"/>
          </a:p>
        </p:txBody>
      </p:sp>
      <p:sp>
        <p:nvSpPr>
          <p:cNvPr id="39" name="Text 37"/>
          <p:cNvSpPr/>
          <p:nvPr/>
        </p:nvSpPr>
        <p:spPr>
          <a:xfrm>
            <a:off x="1078992" y="4828032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70" dirty="0"/>
          </a:p>
        </p:txBody>
      </p:sp>
      <p:sp>
        <p:nvSpPr>
          <p:cNvPr id="40" name="Text 38"/>
          <p:cNvSpPr/>
          <p:nvPr/>
        </p:nvSpPr>
        <p:spPr>
          <a:xfrm>
            <a:off x="1298448" y="4818888"/>
            <a:ext cx="4352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7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接受 provider 流式事件，区分 text、tool_use、done 三种内部事件。</a:t>
            </a:r>
            <a:endParaRPr lang="en-US" sz="1270" dirty="0"/>
          </a:p>
        </p:txBody>
      </p:sp>
      <p:sp>
        <p:nvSpPr>
          <p:cNvPr id="41" name="Text 39"/>
          <p:cNvSpPr/>
          <p:nvPr/>
        </p:nvSpPr>
        <p:spPr>
          <a:xfrm>
            <a:off x="1078992" y="5248656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70" dirty="0"/>
          </a:p>
        </p:txBody>
      </p:sp>
      <p:sp>
        <p:nvSpPr>
          <p:cNvPr id="42" name="Text 40"/>
          <p:cNvSpPr/>
          <p:nvPr/>
        </p:nvSpPr>
        <p:spPr>
          <a:xfrm>
            <a:off x="1298448" y="5239512"/>
            <a:ext cx="4352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7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当出现 tool_use 时，把工具结果封装成 tool_result 再回注入会话。</a:t>
            </a:r>
            <a:endParaRPr lang="en-US" sz="1270" dirty="0"/>
          </a:p>
        </p:txBody>
      </p:sp>
      <p:sp>
        <p:nvSpPr>
          <p:cNvPr id="43" name="Shape 41"/>
          <p:cNvSpPr/>
          <p:nvPr/>
        </p:nvSpPr>
        <p:spPr>
          <a:xfrm>
            <a:off x="6236208" y="3794760"/>
            <a:ext cx="5266944" cy="1874520"/>
          </a:xfrm>
          <a:prstGeom prst="roundRect">
            <a:avLst>
              <a:gd name="adj" fmla="val 3902"/>
            </a:avLst>
          </a:prstGeom>
          <a:solidFill>
            <a:srgbClr val="151B23"/>
          </a:solidFill>
          <a:ln w="12700">
            <a:solidFill>
              <a:srgbClr val="2B3542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419088" y="3922776"/>
            <a:ext cx="4901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5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run-agent-loop.ts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419088" y="4178808"/>
            <a:ext cx="4901184" cy="1362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 (let iteration = 0; iteration &lt; maxIterations; iteration += 1)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const messages = buildMessages(session.messages, budgetManager);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const response = await provider.send(...);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for await (const event of response.events) { ...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if (!sawToolUse) break;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58368" y="6455664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BDC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code-any / source analysis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E"/>
          </a:solidFill>
          <a:ln w="12700">
            <a:solidFill>
              <a:srgbClr val="0E6E6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8404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CORE ENGINE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12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06 runAgentLoop 为什么是系统中枢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225296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它不是简单的 while-loop，而是产品行为、上下文工程和工具边界的汇合点。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064240" y="38404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B87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41248" y="1828800"/>
            <a:ext cx="3840480" cy="3840480"/>
          </a:xfrm>
          <a:prstGeom prst="roundRect">
            <a:avLst>
              <a:gd name="adj" fmla="val 1905"/>
            </a:avLst>
          </a:prstGeom>
          <a:solidFill>
            <a:srgbClr val="FFFDF8"/>
          </a:solidFill>
          <a:ln w="12700">
            <a:solidFill>
              <a:srgbClr val="D7D0C4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2066544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职责集中在这里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2450592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1316736" y="2441448"/>
            <a:ext cx="2999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接入 `shapeTask` 的任务改写结果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1097280" y="2871216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1316736" y="2862072"/>
            <a:ext cx="2999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 `shouldUseExplore` 决定是否先走探索子代理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1097280" y="3291840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1316736" y="3282696"/>
            <a:ext cx="2999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 `messagesSentToMainModel` 保留下来供 debug 追踪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1097280" y="3712464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80" dirty="0"/>
          </a:p>
        </p:txBody>
      </p:sp>
      <p:sp>
        <p:nvSpPr>
          <p:cNvPr id="17" name="Text 15"/>
          <p:cNvSpPr/>
          <p:nvPr/>
        </p:nvSpPr>
        <p:spPr>
          <a:xfrm>
            <a:off x="1316736" y="3703320"/>
            <a:ext cx="2999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处理审批阻断，生成对用户可读的 blocked message</a:t>
            </a:r>
            <a:endParaRPr lang="en-US" sz="1280" dirty="0"/>
          </a:p>
        </p:txBody>
      </p:sp>
      <p:sp>
        <p:nvSpPr>
          <p:cNvPr id="18" name="Text 16"/>
          <p:cNvSpPr/>
          <p:nvPr/>
        </p:nvSpPr>
        <p:spPr>
          <a:xfrm>
            <a:off x="1097280" y="4133088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1316736" y="4123944"/>
            <a:ext cx="2999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控制最大迭代次数，避免无限循环</a:t>
            </a:r>
            <a:endParaRPr lang="en-US" sz="1280" dirty="0"/>
          </a:p>
        </p:txBody>
      </p:sp>
      <p:sp>
        <p:nvSpPr>
          <p:cNvPr id="20" name="Shape 18"/>
          <p:cNvSpPr/>
          <p:nvPr/>
        </p:nvSpPr>
        <p:spPr>
          <a:xfrm>
            <a:off x="4974336" y="1828800"/>
            <a:ext cx="3063240" cy="1874520"/>
          </a:xfrm>
          <a:prstGeom prst="roundRect">
            <a:avLst>
              <a:gd name="adj" fmla="val 3902"/>
            </a:avLst>
          </a:prstGeom>
          <a:solidFill>
            <a:srgbClr val="151B23"/>
          </a:solidFill>
          <a:ln w="12700">
            <a:solidFill>
              <a:srgbClr val="2B3542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157216" y="1956816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5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被忽略但很重要的一段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157216" y="2212848"/>
            <a:ext cx="2697480" cy="1362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 (toolResult.status === 'requires_approval')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const finalText = buildApprovalRequiredMessage(...);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session = appendMessage(session, { role: 'assistant', content: finalText });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return { finalText, ... };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974336" y="3931920"/>
            <a:ext cx="3063240" cy="1737360"/>
          </a:xfrm>
          <a:prstGeom prst="roundRect">
            <a:avLst>
              <a:gd name="adj" fmla="val 4211"/>
            </a:avLst>
          </a:prstGeom>
          <a:solidFill>
            <a:srgbClr val="EEF7F3"/>
          </a:solidFill>
          <a:ln w="12700">
            <a:solidFill>
              <a:srgbClr val="D7D0C4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193792" y="4352544"/>
            <a:ext cx="25968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这意味着审批不是外围逻辑，而是 agent loop 的内建分支。</a:t>
            </a:r>
            <a:endParaRPr lang="en-US" sz="1240" dirty="0"/>
          </a:p>
        </p:txBody>
      </p:sp>
      <p:sp>
        <p:nvSpPr>
          <p:cNvPr id="25" name="Shape 23"/>
          <p:cNvSpPr/>
          <p:nvPr/>
        </p:nvSpPr>
        <p:spPr>
          <a:xfrm>
            <a:off x="8275320" y="1828800"/>
            <a:ext cx="3218688" cy="3840480"/>
          </a:xfrm>
          <a:prstGeom prst="roundRect">
            <a:avLst>
              <a:gd name="adj" fmla="val 2273"/>
            </a:avLst>
          </a:prstGeom>
          <a:solidFill>
            <a:srgbClr val="FFF9F2"/>
          </a:solidFill>
          <a:ln w="12700">
            <a:solidFill>
              <a:srgbClr val="D7D0C4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540496" y="206654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工程判断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540496" y="2487168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80" dirty="0"/>
          </a:p>
        </p:txBody>
      </p:sp>
      <p:sp>
        <p:nvSpPr>
          <p:cNvPr id="28" name="Text 26"/>
          <p:cNvSpPr/>
          <p:nvPr/>
        </p:nvSpPr>
        <p:spPr>
          <a:xfrm>
            <a:off x="8759952" y="2478024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主循环既暴露足够多的状态，又保持 API 面很小。</a:t>
            </a:r>
            <a:endParaRPr lang="en-US" sz="1280" dirty="0"/>
          </a:p>
        </p:txBody>
      </p:sp>
      <p:sp>
        <p:nvSpPr>
          <p:cNvPr id="29" name="Text 27"/>
          <p:cNvSpPr/>
          <p:nvPr/>
        </p:nvSpPr>
        <p:spPr>
          <a:xfrm>
            <a:off x="8540496" y="2907792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80" dirty="0"/>
          </a:p>
        </p:txBody>
      </p:sp>
      <p:sp>
        <p:nvSpPr>
          <p:cNvPr id="30" name="Text 28"/>
          <p:cNvSpPr/>
          <p:nvPr/>
        </p:nvSpPr>
        <p:spPr>
          <a:xfrm>
            <a:off x="8759951" y="2898648"/>
            <a:ext cx="2594511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它让 debug、测试和未来的多 provider 扩展都有落点。</a:t>
            </a:r>
            <a:endParaRPr lang="en-US" sz="1280" dirty="0"/>
          </a:p>
        </p:txBody>
      </p:sp>
      <p:sp>
        <p:nvSpPr>
          <p:cNvPr id="31" name="Text 29"/>
          <p:cNvSpPr/>
          <p:nvPr/>
        </p:nvSpPr>
        <p:spPr>
          <a:xfrm>
            <a:off x="8540496" y="3328416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80" dirty="0"/>
          </a:p>
        </p:txBody>
      </p:sp>
      <p:sp>
        <p:nvSpPr>
          <p:cNvPr id="32" name="Text 30"/>
          <p:cNvSpPr/>
          <p:nvPr/>
        </p:nvSpPr>
        <p:spPr>
          <a:xfrm>
            <a:off x="8759952" y="3319271"/>
            <a:ext cx="2530900" cy="7358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缺点是功能持续增加后，`runAgentLoop.ts` 会成为最先膨胀的文件。</a:t>
            </a:r>
            <a:endParaRPr lang="en-US" sz="1280" dirty="0"/>
          </a:p>
        </p:txBody>
      </p:sp>
      <p:sp>
        <p:nvSpPr>
          <p:cNvPr id="33" name="Text 31"/>
          <p:cNvSpPr/>
          <p:nvPr/>
        </p:nvSpPr>
        <p:spPr>
          <a:xfrm>
            <a:off x="658368" y="6455664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BDC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code-any / source analysis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E"/>
          </a:solidFill>
          <a:ln w="12700">
            <a:solidFill>
              <a:srgbClr val="0E6E6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8404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EXPLORE SUBAGENT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12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07 Explore 子代理：先廉价探索，再让主代理决策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225296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这是项目最像 Claude Code 思路的地方，也是控制主会话上下文的关键。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064240" y="38404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B87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08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41248" y="1828800"/>
            <a:ext cx="3383280" cy="3886200"/>
          </a:xfrm>
          <a:prstGeom prst="roundRect">
            <a:avLst>
              <a:gd name="adj" fmla="val 2162"/>
            </a:avLst>
          </a:prstGeom>
          <a:solidFill>
            <a:srgbClr val="FFFDF8"/>
          </a:solidFill>
          <a:ln w="12700">
            <a:solidFill>
              <a:srgbClr val="D7D0C4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78992" y="208483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触发条件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78992" y="2542032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98448" y="253288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用户输入出现“深入 / 全面 / 梳理 / trace”等广域意图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78992" y="2962656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98448" y="295351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初始搜索结果太多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78992" y="3383280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98448" y="3374136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仓库体量较大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78992" y="425196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这里是启发式决策，不是复杂 planner。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98848" y="18288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151B23"/>
          </a:solidFill>
          <a:ln w="12700">
            <a:solidFill>
              <a:srgbClr val="2B3542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81728" y="1956816"/>
            <a:ext cx="2240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5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Explore 返回结构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81728" y="2212848"/>
            <a:ext cx="2240280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"candidatePaths": [...],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"searchSummary": [...],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"recommendedNextReads": [...],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"risks": [...]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98848" y="4005072"/>
            <a:ext cx="2606040" cy="1709928"/>
          </a:xfrm>
          <a:prstGeom prst="roundRect">
            <a:avLst>
              <a:gd name="adj" fmla="val 4278"/>
            </a:avLst>
          </a:prstGeom>
          <a:solidFill>
            <a:srgbClr val="EEF7F3"/>
          </a:solidFill>
          <a:ln w="12700">
            <a:solidFill>
              <a:srgbClr val="D7D0C4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36592" y="4407408"/>
            <a:ext cx="21396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且 Explore 工具集被刻意缩成只读版：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仅 `list_files` / `read_file` / `search_code`。</a:t>
            </a:r>
            <a:endParaRPr lang="en-US" sz="1230" dirty="0"/>
          </a:p>
        </p:txBody>
      </p:sp>
      <p:sp>
        <p:nvSpPr>
          <p:cNvPr id="22" name="Shape 20"/>
          <p:cNvSpPr/>
          <p:nvPr/>
        </p:nvSpPr>
        <p:spPr>
          <a:xfrm>
            <a:off x="7333488" y="1828800"/>
            <a:ext cx="4169664" cy="3886200"/>
          </a:xfrm>
          <a:prstGeom prst="roundRect">
            <a:avLst>
              <a:gd name="adj" fmla="val 1882"/>
            </a:avLst>
          </a:prstGeom>
          <a:solidFill>
            <a:srgbClr val="FFF9F2"/>
          </a:solidFill>
          <a:ln w="12700">
            <a:solidFill>
              <a:srgbClr val="D7D0C4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607808" y="208483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设计价值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607808" y="2542032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80" dirty="0"/>
          </a:p>
        </p:txBody>
      </p:sp>
      <p:sp>
        <p:nvSpPr>
          <p:cNvPr id="25" name="Text 23"/>
          <p:cNvSpPr/>
          <p:nvPr/>
        </p:nvSpPr>
        <p:spPr>
          <a:xfrm>
            <a:off x="7827264" y="2532888"/>
            <a:ext cx="33009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把“查哪里”与“怎么做”分成两个推理阶段。</a:t>
            </a:r>
            <a:endParaRPr lang="en-US" sz="1280" dirty="0"/>
          </a:p>
        </p:txBody>
      </p:sp>
      <p:sp>
        <p:nvSpPr>
          <p:cNvPr id="26" name="Text 24"/>
          <p:cNvSpPr/>
          <p:nvPr/>
        </p:nvSpPr>
        <p:spPr>
          <a:xfrm>
            <a:off x="7607808" y="2962656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80" dirty="0"/>
          </a:p>
        </p:txBody>
      </p:sp>
      <p:sp>
        <p:nvSpPr>
          <p:cNvPr id="27" name="Text 25"/>
          <p:cNvSpPr/>
          <p:nvPr/>
        </p:nvSpPr>
        <p:spPr>
          <a:xfrm>
            <a:off x="7827264" y="2953512"/>
            <a:ext cx="33009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把大范围探索交给更便宜的模型，主模型只吃结构化结果。</a:t>
            </a:r>
            <a:endParaRPr lang="en-US" sz="1280" dirty="0"/>
          </a:p>
        </p:txBody>
      </p:sp>
      <p:sp>
        <p:nvSpPr>
          <p:cNvPr id="28" name="Text 26"/>
          <p:cNvSpPr/>
          <p:nvPr/>
        </p:nvSpPr>
        <p:spPr>
          <a:xfrm>
            <a:off x="7607808" y="3383280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80" dirty="0"/>
          </a:p>
        </p:txBody>
      </p:sp>
      <p:sp>
        <p:nvSpPr>
          <p:cNvPr id="29" name="Text 27"/>
          <p:cNvSpPr/>
          <p:nvPr/>
        </p:nvSpPr>
        <p:spPr>
          <a:xfrm>
            <a:off x="7827264" y="3374136"/>
            <a:ext cx="33009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通过单独 registry，把子代理权限天然收紧。</a:t>
            </a:r>
            <a:endParaRPr lang="en-US" sz="1280" dirty="0"/>
          </a:p>
        </p:txBody>
      </p:sp>
      <p:sp>
        <p:nvSpPr>
          <p:cNvPr id="30" name="Text 28"/>
          <p:cNvSpPr/>
          <p:nvPr/>
        </p:nvSpPr>
        <p:spPr>
          <a:xfrm>
            <a:off x="7607808" y="3803904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80" dirty="0"/>
          </a:p>
        </p:txBody>
      </p:sp>
      <p:sp>
        <p:nvSpPr>
          <p:cNvPr id="31" name="Text 29"/>
          <p:cNvSpPr/>
          <p:nvPr/>
        </p:nvSpPr>
        <p:spPr>
          <a:xfrm>
            <a:off x="7827264" y="3794760"/>
            <a:ext cx="33009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局限是触发条件较粗糙，还缺少质量反馈闭环。</a:t>
            </a:r>
            <a:endParaRPr lang="en-US" sz="1280" dirty="0"/>
          </a:p>
        </p:txBody>
      </p:sp>
      <p:sp>
        <p:nvSpPr>
          <p:cNvPr id="32" name="Text 30"/>
          <p:cNvSpPr/>
          <p:nvPr/>
        </p:nvSpPr>
        <p:spPr>
          <a:xfrm>
            <a:off x="658368" y="6455664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BDC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code-any / source analysis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E"/>
          </a:solidFill>
          <a:ln w="12700">
            <a:solidFill>
              <a:srgbClr val="0E6E6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8404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CONTEXT ENGINEERING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12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08 上下文预算与裁剪策略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225296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项目最值得复用的经验，不是某个工具，而是这套“只把有价值内容送进模型”的原则。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064240" y="38404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B87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09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41248" y="1828800"/>
            <a:ext cx="2834640" cy="3886200"/>
          </a:xfrm>
          <a:prstGeom prst="roundRect">
            <a:avLst>
              <a:gd name="adj" fmla="val 2581"/>
            </a:avLst>
          </a:prstGeom>
          <a:solidFill>
            <a:srgbClr val="FFFDF8"/>
          </a:solidFill>
          <a:ln w="12700">
            <a:solidFill>
              <a:srgbClr val="D7D0C4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78992" y="208483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默认预算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78992" y="2523744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98448" y="2514600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 输出上限：4000 chars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78992" y="2944368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98448" y="2935224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shell / diff 更小：3000 chars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78992" y="3364992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98448" y="3355848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历史消息保留：12 条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78992" y="3785616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98448" y="3776472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单条消息上限：6000 chars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977640" y="1828800"/>
            <a:ext cx="3657600" cy="3886200"/>
          </a:xfrm>
          <a:prstGeom prst="roundRect">
            <a:avLst>
              <a:gd name="adj" fmla="val 2000"/>
            </a:avLst>
          </a:prstGeom>
          <a:solidFill>
            <a:srgbClr val="EEF4FA"/>
          </a:solidFill>
          <a:ln w="12700">
            <a:solidFill>
              <a:srgbClr val="D7D0C4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224528" y="208483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clipHistory 的细节值得注意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224528" y="2542032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6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60" dirty="0"/>
          </a:p>
        </p:txBody>
      </p:sp>
      <p:sp>
        <p:nvSpPr>
          <p:cNvPr id="21" name="Text 19"/>
          <p:cNvSpPr/>
          <p:nvPr/>
        </p:nvSpPr>
        <p:spPr>
          <a:xfrm>
            <a:off x="4443984" y="2532888"/>
            <a:ext cx="2798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总是保留第一条 user message，也就是原始问题。</a:t>
            </a:r>
            <a:endParaRPr lang="en-US" sz="1260" dirty="0"/>
          </a:p>
        </p:txBody>
      </p:sp>
      <p:sp>
        <p:nvSpPr>
          <p:cNvPr id="22" name="Text 20"/>
          <p:cNvSpPr/>
          <p:nvPr/>
        </p:nvSpPr>
        <p:spPr>
          <a:xfrm>
            <a:off x="4224528" y="2962656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6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60" dirty="0"/>
          </a:p>
        </p:txBody>
      </p:sp>
      <p:sp>
        <p:nvSpPr>
          <p:cNvPr id="23" name="Text 21"/>
          <p:cNvSpPr/>
          <p:nvPr/>
        </p:nvSpPr>
        <p:spPr>
          <a:xfrm>
            <a:off x="4443984" y="2953512"/>
            <a:ext cx="2798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裁剪尾部时避免从 tool message 开始，防止 orphan tool_result。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4224528" y="3383280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6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60" dirty="0"/>
          </a:p>
        </p:txBody>
      </p:sp>
      <p:sp>
        <p:nvSpPr>
          <p:cNvPr id="25" name="Text 23"/>
          <p:cNvSpPr/>
          <p:nvPr/>
        </p:nvSpPr>
        <p:spPr>
          <a:xfrm>
            <a:off x="4443984" y="3374136"/>
            <a:ext cx="2798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这两个约束都在防止“上下文看起来还在，但逻辑断裂”。</a:t>
            </a:r>
            <a:endParaRPr lang="en-US" sz="1260" dirty="0"/>
          </a:p>
        </p:txBody>
      </p:sp>
      <p:sp>
        <p:nvSpPr>
          <p:cNvPr id="26" name="Shape 24"/>
          <p:cNvSpPr/>
          <p:nvPr/>
        </p:nvSpPr>
        <p:spPr>
          <a:xfrm>
            <a:off x="7973568" y="182880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51B23"/>
          </a:solidFill>
          <a:ln w="12700">
            <a:solidFill>
              <a:srgbClr val="2B3542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156448" y="1956816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5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truncateText 的输出形式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156448" y="2212848"/>
            <a:ext cx="3154680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[truncated output: N chars]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&lt;开头窗口&gt;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...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&lt;结尾窗口&gt;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973568" y="3913632"/>
            <a:ext cx="3520440" cy="1801368"/>
          </a:xfrm>
          <a:prstGeom prst="roundRect">
            <a:avLst>
              <a:gd name="adj" fmla="val 4061"/>
            </a:avLst>
          </a:prstGeom>
          <a:solidFill>
            <a:srgbClr val="FFF9F2"/>
          </a:solidFill>
          <a:ln w="12700">
            <a:solidFill>
              <a:srgbClr val="D7D0C4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211312" y="4370832"/>
            <a:ext cx="3017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这说明项目选择的是“可解释截断”而不是静默丢弃。对 agent 系统来说，这一点非常关键。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658368" y="6455664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BDC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code-any / source analysis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E"/>
          </a:solidFill>
          <a:ln w="12700">
            <a:solidFill>
              <a:srgbClr val="0E6E6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8404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 BOUNDARY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12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09 工具执行、摘要回填与审批边界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225296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项目没有把 tool output 直接塞回模型，而是先做封装和去敏。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064240" y="38404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B87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41248" y="1828800"/>
            <a:ext cx="3675888" cy="3931920"/>
          </a:xfrm>
          <a:prstGeom prst="roundRect">
            <a:avLst>
              <a:gd name="adj" fmla="val 1990"/>
            </a:avLst>
          </a:prstGeom>
          <a:solidFill>
            <a:srgbClr val="FFFDF8"/>
          </a:solidFill>
          <a:ln w="12700">
            <a:solidFill>
              <a:srgbClr val="D7D0C4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78992" y="2084832"/>
            <a:ext cx="274161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ToolRegistry 统一负责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78992" y="2542032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9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90" dirty="0"/>
          </a:p>
        </p:txBody>
      </p:sp>
      <p:sp>
        <p:nvSpPr>
          <p:cNvPr id="11" name="Text 9"/>
          <p:cNvSpPr/>
          <p:nvPr/>
        </p:nvSpPr>
        <p:spPr>
          <a:xfrm>
            <a:off x="1298448" y="2532888"/>
            <a:ext cx="2798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9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注册工具实现与 schema</a:t>
            </a:r>
            <a:endParaRPr lang="en-US" sz="1290" dirty="0"/>
          </a:p>
        </p:txBody>
      </p:sp>
      <p:sp>
        <p:nvSpPr>
          <p:cNvPr id="12" name="Text 10"/>
          <p:cNvSpPr/>
          <p:nvPr/>
        </p:nvSpPr>
        <p:spPr>
          <a:xfrm>
            <a:off x="1078992" y="2962656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9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90" dirty="0"/>
          </a:p>
        </p:txBody>
      </p:sp>
      <p:sp>
        <p:nvSpPr>
          <p:cNvPr id="13" name="Text 11"/>
          <p:cNvSpPr/>
          <p:nvPr/>
        </p:nvSpPr>
        <p:spPr>
          <a:xfrm>
            <a:off x="1298448" y="2953512"/>
            <a:ext cx="2798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9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执行前走审批判断</a:t>
            </a:r>
            <a:endParaRPr lang="en-US" sz="1290" dirty="0"/>
          </a:p>
        </p:txBody>
      </p:sp>
      <p:sp>
        <p:nvSpPr>
          <p:cNvPr id="14" name="Text 12"/>
          <p:cNvSpPr/>
          <p:nvPr/>
        </p:nvSpPr>
        <p:spPr>
          <a:xfrm>
            <a:off x="1078992" y="3383280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9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90" dirty="0"/>
          </a:p>
        </p:txBody>
      </p:sp>
      <p:sp>
        <p:nvSpPr>
          <p:cNvPr id="15" name="Text 13"/>
          <p:cNvSpPr/>
          <p:nvPr/>
        </p:nvSpPr>
        <p:spPr>
          <a:xfrm>
            <a:off x="1298448" y="3374136"/>
            <a:ext cx="2798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9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执行后统一返回 envelope</a:t>
            </a:r>
            <a:endParaRPr lang="en-US" sz="1290" dirty="0"/>
          </a:p>
        </p:txBody>
      </p:sp>
      <p:sp>
        <p:nvSpPr>
          <p:cNvPr id="16" name="Text 14"/>
          <p:cNvSpPr/>
          <p:nvPr/>
        </p:nvSpPr>
        <p:spPr>
          <a:xfrm>
            <a:off x="1078992" y="3803904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9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90" dirty="0"/>
          </a:p>
        </p:txBody>
      </p:sp>
      <p:sp>
        <p:nvSpPr>
          <p:cNvPr id="17" name="Text 15"/>
          <p:cNvSpPr/>
          <p:nvPr/>
        </p:nvSpPr>
        <p:spPr>
          <a:xfrm>
            <a:off x="1298448" y="3794760"/>
            <a:ext cx="2798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9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异常统一包装成 failed tool result</a:t>
            </a:r>
            <a:endParaRPr lang="en-US" sz="1290" dirty="0"/>
          </a:p>
        </p:txBody>
      </p:sp>
      <p:sp>
        <p:nvSpPr>
          <p:cNvPr id="18" name="Shape 16"/>
          <p:cNvSpPr/>
          <p:nvPr/>
        </p:nvSpPr>
        <p:spPr>
          <a:xfrm>
            <a:off x="4773168" y="1828800"/>
            <a:ext cx="2834640" cy="3931920"/>
          </a:xfrm>
          <a:prstGeom prst="roundRect">
            <a:avLst>
              <a:gd name="adj" fmla="val 2581"/>
            </a:avLst>
          </a:prstGeom>
          <a:solidFill>
            <a:srgbClr val="EEF7F3"/>
          </a:solidFill>
          <a:ln w="12700">
            <a:solidFill>
              <a:srgbClr val="D7D0C4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0" y="2084832"/>
            <a:ext cx="16260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6 个工具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0" y="2560320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5248656" y="2551176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list_files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5029200" y="2980944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5248656" y="2971800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read_file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5029200" y="3401568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5248656" y="3392424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search_code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5029200" y="3822192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5248656" y="3813048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write_file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5029200" y="4242816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5248656" y="4233672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run_shell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5029200" y="4663440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5248656" y="4654296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diff_workspace</a:t>
            </a:r>
            <a:endParaRPr lang="en-US" sz="1320" dirty="0"/>
          </a:p>
        </p:txBody>
      </p:sp>
      <p:sp>
        <p:nvSpPr>
          <p:cNvPr id="32" name="Text 30"/>
          <p:cNvSpPr/>
          <p:nvPr/>
        </p:nvSpPr>
        <p:spPr>
          <a:xfrm>
            <a:off x="5029200" y="5212080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其中 `write_file` 与 `run_shell` 被定义为危险工具。</a:t>
            </a:r>
            <a:endParaRPr lang="en-US" sz="1180" dirty="0"/>
          </a:p>
        </p:txBody>
      </p:sp>
      <p:sp>
        <p:nvSpPr>
          <p:cNvPr id="33" name="Shape 31"/>
          <p:cNvSpPr/>
          <p:nvPr/>
        </p:nvSpPr>
        <p:spPr>
          <a:xfrm>
            <a:off x="7845552" y="1828800"/>
            <a:ext cx="3657600" cy="3931920"/>
          </a:xfrm>
          <a:prstGeom prst="roundRect">
            <a:avLst>
              <a:gd name="adj" fmla="val 2000"/>
            </a:avLst>
          </a:prstGeom>
          <a:solidFill>
            <a:srgbClr val="FFF9F2"/>
          </a:solidFill>
          <a:ln w="12700">
            <a:solidFill>
              <a:srgbClr val="D7D0C4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101584" y="2084832"/>
            <a:ext cx="29626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message-builder 的关键动作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101584" y="2542032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30" dirty="0"/>
          </a:p>
        </p:txBody>
      </p:sp>
      <p:sp>
        <p:nvSpPr>
          <p:cNvPr id="36" name="Text 34"/>
          <p:cNvSpPr/>
          <p:nvPr/>
        </p:nvSpPr>
        <p:spPr>
          <a:xfrm>
            <a:off x="8321040" y="2532888"/>
            <a:ext cx="2779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 tool result 变成 provider 可消费的 `tool_result` 消息。</a:t>
            </a:r>
            <a:endParaRPr lang="en-US" sz="1230" dirty="0"/>
          </a:p>
        </p:txBody>
      </p:sp>
      <p:sp>
        <p:nvSpPr>
          <p:cNvPr id="37" name="Text 35"/>
          <p:cNvSpPr/>
          <p:nvPr/>
        </p:nvSpPr>
        <p:spPr>
          <a:xfrm>
            <a:off x="8101584" y="2962656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30" dirty="0"/>
          </a:p>
        </p:txBody>
      </p:sp>
      <p:sp>
        <p:nvSpPr>
          <p:cNvPr id="38" name="Text 36"/>
          <p:cNvSpPr/>
          <p:nvPr/>
        </p:nvSpPr>
        <p:spPr>
          <a:xfrm>
            <a:off x="8321040" y="2953512"/>
            <a:ext cx="2779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过滤 metadata 里的 stdout / stderr / rawOutput。</a:t>
            </a:r>
            <a:endParaRPr lang="en-US" sz="1230" dirty="0"/>
          </a:p>
        </p:txBody>
      </p:sp>
      <p:sp>
        <p:nvSpPr>
          <p:cNvPr id="39" name="Text 37"/>
          <p:cNvSpPr/>
          <p:nvPr/>
        </p:nvSpPr>
        <p:spPr>
          <a:xfrm>
            <a:off x="8101584" y="3383280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30" dirty="0"/>
          </a:p>
        </p:txBody>
      </p:sp>
      <p:sp>
        <p:nvSpPr>
          <p:cNvPr id="40" name="Text 38"/>
          <p:cNvSpPr/>
          <p:nvPr/>
        </p:nvSpPr>
        <p:spPr>
          <a:xfrm>
            <a:off x="8321040" y="3374136"/>
            <a:ext cx="2779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长字符串 metadata 只保留头尾，继续压缩噪声。</a:t>
            </a:r>
            <a:endParaRPr lang="en-US" sz="1230" dirty="0"/>
          </a:p>
        </p:txBody>
      </p:sp>
      <p:sp>
        <p:nvSpPr>
          <p:cNvPr id="41" name="Text 39"/>
          <p:cNvSpPr/>
          <p:nvPr/>
        </p:nvSpPr>
        <p:spPr>
          <a:xfrm>
            <a:off x="8101584" y="3803904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30" dirty="0"/>
          </a:p>
        </p:txBody>
      </p:sp>
      <p:sp>
        <p:nvSpPr>
          <p:cNvPr id="42" name="Text 40"/>
          <p:cNvSpPr/>
          <p:nvPr/>
        </p:nvSpPr>
        <p:spPr>
          <a:xfrm>
            <a:off x="8321040" y="3794760"/>
            <a:ext cx="2779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把模型可见信息限制在 `status / summary / truncation / metadata`。</a:t>
            </a:r>
            <a:endParaRPr lang="en-US" sz="1230" dirty="0"/>
          </a:p>
        </p:txBody>
      </p:sp>
      <p:sp>
        <p:nvSpPr>
          <p:cNvPr id="43" name="Text 41"/>
          <p:cNvSpPr/>
          <p:nvPr/>
        </p:nvSpPr>
        <p:spPr>
          <a:xfrm>
            <a:off x="658368" y="6455664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BDC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code-any / source analysis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E"/>
          </a:solidFill>
          <a:ln w="12700">
            <a:solidFill>
              <a:srgbClr val="0E6E6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8404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PROVIDER ADAPTER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12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10 Provider 流式适配层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225296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内部只保留三种 ProviderEvent，说明项目刻意收窄了上层对底层 SDK 的耦合。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064240" y="38404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B87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41248" y="1874520"/>
            <a:ext cx="4800600" cy="3794760"/>
          </a:xfrm>
          <a:prstGeom prst="roundRect">
            <a:avLst>
              <a:gd name="adj" fmla="val 1928"/>
            </a:avLst>
          </a:prstGeom>
          <a:solidFill>
            <a:srgbClr val="FFFDF8"/>
          </a:solidFill>
          <a:ln w="12700">
            <a:solidFill>
              <a:srgbClr val="D7D0C4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78992" y="2139696"/>
            <a:ext cx="2734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Anthropic stream event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78992" y="2670048"/>
            <a:ext cx="1143000" cy="731520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 w="12700">
            <a:solidFill>
              <a:srgbClr val="C4D4E8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25296" y="2798064"/>
            <a:ext cx="11064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text_delta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25296" y="3054096"/>
            <a:ext cx="850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文本增量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87168" y="2670048"/>
            <a:ext cx="1325880" cy="731520"/>
          </a:xfrm>
          <a:prstGeom prst="roundRect">
            <a:avLst>
              <a:gd name="adj" fmla="val 10000"/>
            </a:avLst>
          </a:prstGeom>
          <a:solidFill>
            <a:srgbClr val="F8EEE7"/>
          </a:solidFill>
          <a:ln w="12700">
            <a:solidFill>
              <a:srgbClr val="E3C5B5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33472" y="2798064"/>
            <a:ext cx="1024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tool_use start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33472" y="3054096"/>
            <a:ext cx="1033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工具开始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078224" y="2670048"/>
            <a:ext cx="1143000" cy="731520"/>
          </a:xfrm>
          <a:prstGeom prst="roundRect">
            <a:avLst>
              <a:gd name="adj" fmla="val 10000"/>
            </a:avLst>
          </a:prstGeom>
          <a:solidFill>
            <a:srgbClr val="EEF7F3"/>
          </a:solidFill>
          <a:ln w="12700">
            <a:solidFill>
              <a:srgbClr val="BED7C7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224528" y="2798064"/>
            <a:ext cx="1152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json_delta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24528" y="3054096"/>
            <a:ext cx="850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工具参数片段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487168" y="3913632"/>
            <a:ext cx="1325880" cy="731520"/>
          </a:xfrm>
          <a:prstGeom prst="roundRect">
            <a:avLst>
              <a:gd name="adj" fmla="val 10000"/>
            </a:avLst>
          </a:prstGeom>
          <a:solidFill>
            <a:srgbClr val="FFF9F2"/>
          </a:solidFill>
          <a:ln w="12700">
            <a:solidFill>
              <a:srgbClr val="E7D7B9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633471" y="4041648"/>
            <a:ext cx="126266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block_stop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633472" y="4297680"/>
            <a:ext cx="1033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工具块结束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21992" y="3035808"/>
            <a:ext cx="265176" cy="0"/>
          </a:xfrm>
          <a:prstGeom prst="line">
            <a:avLst/>
          </a:prstGeom>
          <a:noFill/>
          <a:ln w="12700">
            <a:solidFill>
              <a:srgbClr val="1E3F6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813048" y="3035808"/>
            <a:ext cx="265176" cy="0"/>
          </a:xfrm>
          <a:prstGeom prst="line">
            <a:avLst/>
          </a:prstGeom>
          <a:noFill/>
          <a:ln w="12700">
            <a:solidFill>
              <a:srgbClr val="1E3F6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078224" y="3401568"/>
            <a:ext cx="0" cy="512064"/>
          </a:xfrm>
          <a:prstGeom prst="line">
            <a:avLst/>
          </a:prstGeom>
          <a:noFill/>
          <a:ln w="12700">
            <a:solidFill>
              <a:srgbClr val="1E3F66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487168" y="3401568"/>
            <a:ext cx="658368" cy="512064"/>
          </a:xfrm>
          <a:prstGeom prst="line">
            <a:avLst/>
          </a:prstGeom>
          <a:noFill/>
          <a:ln w="12700">
            <a:solidFill>
              <a:srgbClr val="1E3F66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1078992" y="47091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4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mapAnthropicStreamEvents 会把它们统一映射成：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text / tool_use / done</a:t>
            </a:r>
            <a:endParaRPr lang="en-US" sz="1340" dirty="0"/>
          </a:p>
        </p:txBody>
      </p:sp>
      <p:sp>
        <p:nvSpPr>
          <p:cNvPr id="27" name="Shape 25"/>
          <p:cNvSpPr/>
          <p:nvPr/>
        </p:nvSpPr>
        <p:spPr>
          <a:xfrm>
            <a:off x="5925312" y="1874520"/>
            <a:ext cx="5559552" cy="3794760"/>
          </a:xfrm>
          <a:prstGeom prst="roundRect">
            <a:avLst>
              <a:gd name="adj" fmla="val 1928"/>
            </a:avLst>
          </a:prstGeom>
          <a:solidFill>
            <a:srgbClr val="FFF9F2"/>
          </a:solidFill>
          <a:ln w="12700">
            <a:solidFill>
              <a:srgbClr val="D7D0C4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181344" y="2139696"/>
            <a:ext cx="239016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为什么这层抽象值得保留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181344" y="2596896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6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60" dirty="0"/>
          </a:p>
        </p:txBody>
      </p:sp>
      <p:sp>
        <p:nvSpPr>
          <p:cNvPr id="30" name="Text 28"/>
          <p:cNvSpPr/>
          <p:nvPr/>
        </p:nvSpPr>
        <p:spPr>
          <a:xfrm>
            <a:off x="6400800" y="2587752"/>
            <a:ext cx="4535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上层 agent loop 不需要理解 Anthropic 原始事件细节。</a:t>
            </a:r>
            <a:endParaRPr lang="en-US" sz="1260" dirty="0"/>
          </a:p>
        </p:txBody>
      </p:sp>
      <p:sp>
        <p:nvSpPr>
          <p:cNvPr id="31" name="Text 29"/>
          <p:cNvSpPr/>
          <p:nvPr/>
        </p:nvSpPr>
        <p:spPr>
          <a:xfrm>
            <a:off x="6181344" y="3017520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6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60" dirty="0"/>
          </a:p>
        </p:txBody>
      </p:sp>
      <p:sp>
        <p:nvSpPr>
          <p:cNvPr id="32" name="Text 30"/>
          <p:cNvSpPr/>
          <p:nvPr/>
        </p:nvSpPr>
        <p:spPr>
          <a:xfrm>
            <a:off x="6400800" y="3008376"/>
            <a:ext cx="4535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 input 的 JSON 增量被收敛为一个完整 `input` 对象。</a:t>
            </a:r>
            <a:endParaRPr lang="en-US" sz="1260" dirty="0"/>
          </a:p>
        </p:txBody>
      </p:sp>
      <p:sp>
        <p:nvSpPr>
          <p:cNvPr id="33" name="Text 31"/>
          <p:cNvSpPr/>
          <p:nvPr/>
        </p:nvSpPr>
        <p:spPr>
          <a:xfrm>
            <a:off x="6181344" y="3438144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6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60" dirty="0"/>
          </a:p>
        </p:txBody>
      </p:sp>
      <p:sp>
        <p:nvSpPr>
          <p:cNvPr id="34" name="Text 32"/>
          <p:cNvSpPr/>
          <p:nvPr/>
        </p:nvSpPr>
        <p:spPr>
          <a:xfrm>
            <a:off x="6400800" y="3429000"/>
            <a:ext cx="4535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未来替换 provider 时，只要继续输出这三类内部事件即可。</a:t>
            </a:r>
            <a:endParaRPr lang="en-US" sz="1260" dirty="0"/>
          </a:p>
        </p:txBody>
      </p:sp>
      <p:sp>
        <p:nvSpPr>
          <p:cNvPr id="35" name="Text 33"/>
          <p:cNvSpPr/>
          <p:nvPr/>
        </p:nvSpPr>
        <p:spPr>
          <a:xfrm>
            <a:off x="6181344" y="3858768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6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60" dirty="0"/>
          </a:p>
        </p:txBody>
      </p:sp>
      <p:sp>
        <p:nvSpPr>
          <p:cNvPr id="36" name="Text 34"/>
          <p:cNvSpPr/>
          <p:nvPr/>
        </p:nvSpPr>
        <p:spPr>
          <a:xfrm>
            <a:off x="6400800" y="3849624"/>
            <a:ext cx="4535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代价是 provider 能力被裁平，复杂特性不一定能直接暴露出来。</a:t>
            </a:r>
            <a:endParaRPr lang="en-US" sz="1260" dirty="0"/>
          </a:p>
        </p:txBody>
      </p:sp>
      <p:sp>
        <p:nvSpPr>
          <p:cNvPr id="37" name="Text 35"/>
          <p:cNvSpPr/>
          <p:nvPr/>
        </p:nvSpPr>
        <p:spPr>
          <a:xfrm>
            <a:off x="658368" y="6455664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BDC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code-any / source analysis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E"/>
          </a:solidFill>
          <a:ln w="12700">
            <a:solidFill>
              <a:srgbClr val="0E6E6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8404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TESTING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12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11 测试面覆盖了什么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225296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这个项目虽然小，但测试分层比很多实验性仓库更完整。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064240" y="38404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B87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 w="12700">
            <a:solidFill>
              <a:srgbClr val="D7D0C4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69264" y="2020824"/>
            <a:ext cx="73152" cy="804672"/>
          </a:xfrm>
          <a:prstGeom prst="rect">
            <a:avLst/>
          </a:prstGeom>
          <a:solidFill>
            <a:srgbClr val="0E6E6E"/>
          </a:solidFill>
          <a:ln w="12700">
            <a:solidFill>
              <a:srgbClr val="0E6E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2144" y="2130552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29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52144" y="2532888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测试文件数量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1874520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 w="12700">
            <a:solidFill>
              <a:srgbClr val="D7D0C4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46704" y="2020824"/>
            <a:ext cx="73152" cy="804672"/>
          </a:xfrm>
          <a:prstGeom prst="rect">
            <a:avLst/>
          </a:prstGeom>
          <a:solidFill>
            <a:srgbClr val="D86C45"/>
          </a:solidFill>
          <a:ln w="12700">
            <a:solidFill>
              <a:srgbClr val="D86C45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9584" y="2130552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1666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529584" y="2532888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测试行数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577840" y="1874520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 w="12700">
            <a:solidFill>
              <a:srgbClr val="D7D0C4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24144" y="2020824"/>
            <a:ext cx="73152" cy="804672"/>
          </a:xfrm>
          <a:prstGeom prst="rect">
            <a:avLst/>
          </a:prstGeom>
          <a:solidFill>
            <a:srgbClr val="1E3F66"/>
          </a:solidFill>
          <a:ln w="12700">
            <a:solidFill>
              <a:srgbClr val="1E3F6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07024" y="2130552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907024" y="2532888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integration 测试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955280" y="1874520"/>
            <a:ext cx="2788920" cy="109728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 w="12700">
            <a:solidFill>
              <a:srgbClr val="D7D0C4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01584" y="2020824"/>
            <a:ext cx="73152" cy="804672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84464" y="2130552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context regression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284464" y="2532888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专门覆盖上下文相关回归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41248" y="3383280"/>
            <a:ext cx="3291840" cy="2331720"/>
          </a:xfrm>
          <a:prstGeom prst="roundRect">
            <a:avLst>
              <a:gd name="adj" fmla="val 3137"/>
            </a:avLst>
          </a:prstGeom>
          <a:solidFill>
            <a:srgbClr val="FFFDF8"/>
          </a:solidFill>
          <a:ln w="12700">
            <a:solidFill>
              <a:srgbClr val="D7D0C4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78992" y="362102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单元测试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78992" y="4023360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70" dirty="0"/>
          </a:p>
        </p:txBody>
      </p:sp>
      <p:sp>
        <p:nvSpPr>
          <p:cNvPr id="27" name="Text 25"/>
          <p:cNvSpPr/>
          <p:nvPr/>
        </p:nvSpPr>
        <p:spPr>
          <a:xfrm>
            <a:off x="1298448" y="4014216"/>
            <a:ext cx="2386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7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approval / parser / render</a:t>
            </a:r>
            <a:endParaRPr lang="en-US" sz="1270" dirty="0"/>
          </a:p>
        </p:txBody>
      </p:sp>
      <p:sp>
        <p:nvSpPr>
          <p:cNvPr id="28" name="Text 26"/>
          <p:cNvSpPr/>
          <p:nvPr/>
        </p:nvSpPr>
        <p:spPr>
          <a:xfrm>
            <a:off x="1078992" y="4443984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70" dirty="0"/>
          </a:p>
        </p:txBody>
      </p:sp>
      <p:sp>
        <p:nvSpPr>
          <p:cNvPr id="29" name="Text 27"/>
          <p:cNvSpPr/>
          <p:nvPr/>
        </p:nvSpPr>
        <p:spPr>
          <a:xfrm>
            <a:off x="1298448" y="4434840"/>
            <a:ext cx="2386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7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budget manager / message builder</a:t>
            </a:r>
            <a:endParaRPr lang="en-US" sz="1270" dirty="0"/>
          </a:p>
        </p:txBody>
      </p:sp>
      <p:sp>
        <p:nvSpPr>
          <p:cNvPr id="30" name="Text 28"/>
          <p:cNvSpPr/>
          <p:nvPr/>
        </p:nvSpPr>
        <p:spPr>
          <a:xfrm>
            <a:off x="1078992" y="4864608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70" dirty="0"/>
          </a:p>
        </p:txBody>
      </p:sp>
      <p:sp>
        <p:nvSpPr>
          <p:cNvPr id="31" name="Text 29"/>
          <p:cNvSpPr/>
          <p:nvPr/>
        </p:nvSpPr>
        <p:spPr>
          <a:xfrm>
            <a:off x="1298448" y="4855464"/>
            <a:ext cx="2386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7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provider stream mapping</a:t>
            </a:r>
            <a:endParaRPr lang="en-US" sz="1270" dirty="0"/>
          </a:p>
        </p:txBody>
      </p:sp>
      <p:sp>
        <p:nvSpPr>
          <p:cNvPr id="32" name="Text 30"/>
          <p:cNvSpPr/>
          <p:nvPr/>
        </p:nvSpPr>
        <p:spPr>
          <a:xfrm>
            <a:off x="1078992" y="5285232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70" dirty="0"/>
          </a:p>
        </p:txBody>
      </p:sp>
      <p:sp>
        <p:nvSpPr>
          <p:cNvPr id="33" name="Text 31"/>
          <p:cNvSpPr/>
          <p:nvPr/>
        </p:nvSpPr>
        <p:spPr>
          <a:xfrm>
            <a:off x="1298448" y="5276088"/>
            <a:ext cx="2386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7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每个工具各自测试</a:t>
            </a:r>
            <a:endParaRPr lang="en-US" sz="1270" dirty="0"/>
          </a:p>
        </p:txBody>
      </p:sp>
      <p:sp>
        <p:nvSpPr>
          <p:cNvPr id="34" name="Shape 32"/>
          <p:cNvSpPr/>
          <p:nvPr/>
        </p:nvSpPr>
        <p:spPr>
          <a:xfrm>
            <a:off x="4443984" y="3383280"/>
            <a:ext cx="3291840" cy="2331720"/>
          </a:xfrm>
          <a:prstGeom prst="roundRect">
            <a:avLst>
              <a:gd name="adj" fmla="val 3137"/>
            </a:avLst>
          </a:prstGeom>
          <a:solidFill>
            <a:srgbClr val="EEF7F3"/>
          </a:solidFill>
          <a:ln w="12700">
            <a:solidFill>
              <a:srgbClr val="D7D0C4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681728" y="362102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集成测试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681728" y="4023360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70" dirty="0"/>
          </a:p>
        </p:txBody>
      </p:sp>
      <p:sp>
        <p:nvSpPr>
          <p:cNvPr id="37" name="Text 35"/>
          <p:cNvSpPr/>
          <p:nvPr/>
        </p:nvSpPr>
        <p:spPr>
          <a:xfrm>
            <a:off x="4901184" y="4014216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7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loop 主流程</a:t>
            </a:r>
            <a:endParaRPr lang="en-US" sz="1270" dirty="0"/>
          </a:p>
        </p:txBody>
      </p:sp>
      <p:sp>
        <p:nvSpPr>
          <p:cNvPr id="38" name="Text 36"/>
          <p:cNvSpPr/>
          <p:nvPr/>
        </p:nvSpPr>
        <p:spPr>
          <a:xfrm>
            <a:off x="4681728" y="4443984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70" dirty="0"/>
          </a:p>
        </p:txBody>
      </p:sp>
      <p:sp>
        <p:nvSpPr>
          <p:cNvPr id="39" name="Text 37"/>
          <p:cNvSpPr/>
          <p:nvPr/>
        </p:nvSpPr>
        <p:spPr>
          <a:xfrm>
            <a:off x="4901184" y="443484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7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explore flow / subagent</a:t>
            </a:r>
            <a:endParaRPr lang="en-US" sz="1270" dirty="0"/>
          </a:p>
        </p:txBody>
      </p:sp>
      <p:sp>
        <p:nvSpPr>
          <p:cNvPr id="40" name="Text 38"/>
          <p:cNvSpPr/>
          <p:nvPr/>
        </p:nvSpPr>
        <p:spPr>
          <a:xfrm>
            <a:off x="4681728" y="4864608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70" dirty="0"/>
          </a:p>
        </p:txBody>
      </p:sp>
      <p:sp>
        <p:nvSpPr>
          <p:cNvPr id="41" name="Text 39"/>
          <p:cNvSpPr/>
          <p:nvPr/>
        </p:nvSpPr>
        <p:spPr>
          <a:xfrm>
            <a:off x="4901184" y="4855464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7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debug message flow</a:t>
            </a:r>
            <a:endParaRPr lang="en-US" sz="1270" dirty="0"/>
          </a:p>
        </p:txBody>
      </p:sp>
      <p:sp>
        <p:nvSpPr>
          <p:cNvPr id="42" name="Text 40"/>
          <p:cNvSpPr/>
          <p:nvPr/>
        </p:nvSpPr>
        <p:spPr>
          <a:xfrm>
            <a:off x="4681728" y="5285232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70" dirty="0"/>
          </a:p>
        </p:txBody>
      </p:sp>
      <p:sp>
        <p:nvSpPr>
          <p:cNvPr id="43" name="Text 41"/>
          <p:cNvSpPr/>
          <p:nvPr/>
        </p:nvSpPr>
        <p:spPr>
          <a:xfrm>
            <a:off x="4901184" y="5276088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7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context regression</a:t>
            </a:r>
            <a:endParaRPr lang="en-US" sz="1270" dirty="0"/>
          </a:p>
        </p:txBody>
      </p:sp>
      <p:sp>
        <p:nvSpPr>
          <p:cNvPr id="44" name="Shape 42"/>
          <p:cNvSpPr/>
          <p:nvPr/>
        </p:nvSpPr>
        <p:spPr>
          <a:xfrm>
            <a:off x="8046720" y="3383280"/>
            <a:ext cx="3456432" cy="2331720"/>
          </a:xfrm>
          <a:prstGeom prst="roundRect">
            <a:avLst>
              <a:gd name="adj" fmla="val 3137"/>
            </a:avLst>
          </a:prstGeom>
          <a:solidFill>
            <a:srgbClr val="FFF9F2"/>
          </a:solidFill>
          <a:ln w="12700">
            <a:solidFill>
              <a:srgbClr val="D7D0C4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302752" y="362102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这说明什么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8302752" y="4023360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8522208" y="4014216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作者知道最容易坏的是消息流和上下文边界。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8302752" y="4443984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8522208" y="4434840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测试重点并不在 UI，而在运行时行为是否稳定。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8302752" y="4864608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8522208" y="4855464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这与项目定位高度一致。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658368" y="6455664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BDC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code-any / source analysis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E"/>
          </a:solidFill>
          <a:ln w="12700">
            <a:solidFill>
              <a:srgbClr val="0E6E6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8404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STRENGTHS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12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12 这个项目的设计亮点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225296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如果把它当成“如何实现最小 coding agent”的参考样板，价值非常高。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064240" y="38404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B87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41248" y="1874520"/>
            <a:ext cx="2578608" cy="1600200"/>
          </a:xfrm>
          <a:prstGeom prst="roundRect">
            <a:avLst>
              <a:gd name="adj" fmla="val 4571"/>
            </a:avLst>
          </a:prstGeom>
          <a:solidFill>
            <a:srgbClr val="EEF4FA"/>
          </a:solidFill>
          <a:ln w="12700">
            <a:solidFill>
              <a:srgbClr val="D7D0C4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11880" y="1874520"/>
            <a:ext cx="2578608" cy="1600200"/>
          </a:xfrm>
          <a:prstGeom prst="roundRect">
            <a:avLst>
              <a:gd name="adj" fmla="val 4571"/>
            </a:avLst>
          </a:prstGeom>
          <a:solidFill>
            <a:srgbClr val="F8EEE7"/>
          </a:solidFill>
          <a:ln w="12700">
            <a:solidFill>
              <a:srgbClr val="D7D0C4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82512" y="1874520"/>
            <a:ext cx="2578608" cy="1600200"/>
          </a:xfrm>
          <a:prstGeom prst="roundRect">
            <a:avLst>
              <a:gd name="adj" fmla="val 4571"/>
            </a:avLst>
          </a:prstGeom>
          <a:solidFill>
            <a:srgbClr val="EEF7F3"/>
          </a:solidFill>
          <a:ln w="12700">
            <a:solidFill>
              <a:srgbClr val="D7D0C4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53144" y="1874520"/>
            <a:ext cx="2377440" cy="1600200"/>
          </a:xfrm>
          <a:prstGeom prst="roundRect">
            <a:avLst>
              <a:gd name="adj" fmla="val 4571"/>
            </a:avLst>
          </a:prstGeom>
          <a:solidFill>
            <a:srgbClr val="FFF9F2"/>
          </a:solidFill>
          <a:ln w="12700">
            <a:solidFill>
              <a:srgbClr val="D7D0C4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60704" y="221284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边界清楚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60704" y="2615184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REPL、loop、provider、tools、context 分层很干净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3831336" y="221284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上下文意识强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31336" y="2615184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从设计开始就把预算与裁剪当成一等能力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6601968" y="221284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子代理克制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01968" y="2615184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只做 Explore，且权限受限，没有盲目多 agent 化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9372600" y="221284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测试方向对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372600" y="2615184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把回归风险集中在消息流与运行时行为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841248" y="3822192"/>
            <a:ext cx="10698480" cy="1847088"/>
          </a:xfrm>
          <a:prstGeom prst="roundRect">
            <a:avLst>
              <a:gd name="adj" fmla="val 3960"/>
            </a:avLst>
          </a:prstGeom>
          <a:solidFill>
            <a:srgbClr val="FFFDF8"/>
          </a:solidFill>
          <a:ln w="12700">
            <a:solidFill>
              <a:srgbClr val="D7D0C4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97280" y="407822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核心结论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97280" y="4517136"/>
            <a:ext cx="10012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4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这不是一个靠功能数量取胜的项目，而是一个靠“关键约束都在正确位置上”取胜的项目。对于内部技术分享，这类代码比大型框架更适合拆解，因为每一层设计意图都还能看得见。</a:t>
            </a:r>
            <a:endParaRPr lang="en-US" sz="1340" dirty="0"/>
          </a:p>
        </p:txBody>
      </p:sp>
      <p:sp>
        <p:nvSpPr>
          <p:cNvPr id="23" name="Text 21"/>
          <p:cNvSpPr/>
          <p:nvPr/>
        </p:nvSpPr>
        <p:spPr>
          <a:xfrm>
            <a:off x="658368" y="6455664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BDC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code-any / source analysis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E"/>
          </a:solidFill>
          <a:ln w="12700">
            <a:solidFill>
              <a:srgbClr val="0E6E6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8404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LIMITS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12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13 局限与下一步演进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225296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优点成立的前提，是它还刻意保持“小而克制”。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064240" y="38404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B87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41248" y="1847088"/>
            <a:ext cx="2578608" cy="1691640"/>
          </a:xfrm>
          <a:prstGeom prst="roundRect">
            <a:avLst>
              <a:gd name="adj" fmla="val 4324"/>
            </a:avLst>
          </a:prstGeom>
          <a:solidFill>
            <a:srgbClr val="FFF6F4"/>
          </a:solidFill>
          <a:ln w="12700">
            <a:solidFill>
              <a:srgbClr val="D7D0C4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11880" y="1847088"/>
            <a:ext cx="2578608" cy="1691640"/>
          </a:xfrm>
          <a:prstGeom prst="roundRect">
            <a:avLst>
              <a:gd name="adj" fmla="val 4324"/>
            </a:avLst>
          </a:prstGeom>
          <a:solidFill>
            <a:srgbClr val="FFF6F4"/>
          </a:solidFill>
          <a:ln w="12700">
            <a:solidFill>
              <a:srgbClr val="D7D0C4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82512" y="1847088"/>
            <a:ext cx="2578608" cy="1691640"/>
          </a:xfrm>
          <a:prstGeom prst="roundRect">
            <a:avLst>
              <a:gd name="adj" fmla="val 4324"/>
            </a:avLst>
          </a:prstGeom>
          <a:solidFill>
            <a:srgbClr val="FFF6F4"/>
          </a:solidFill>
          <a:ln w="12700">
            <a:solidFill>
              <a:srgbClr val="D7D0C4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53144" y="1847088"/>
            <a:ext cx="2377440" cy="1691640"/>
          </a:xfrm>
          <a:prstGeom prst="roundRect">
            <a:avLst>
              <a:gd name="adj" fmla="val 4324"/>
            </a:avLst>
          </a:prstGeom>
          <a:solidFill>
            <a:srgbClr val="FFF6F4"/>
          </a:solidFill>
          <a:ln w="12700">
            <a:solidFill>
              <a:srgbClr val="D7D0C4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60704" y="217627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64B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Provider 单一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60704" y="2578608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目前几乎只围绕 Anthropic，抽象层足够但生态仍窄。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831336" y="217627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64B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Planner 简单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31336" y="2578608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Explore 触发规则偏启发式，缺少反馈回路和效果评估。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601968" y="217627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64B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工具集有限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01968" y="2578608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没有浏览器、补丁、并行工具等更复杂的能力。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372600" y="217627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64B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主循环会膨胀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372600" y="2578608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功能继续增多时，runAgentLoop 最先变重。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41248" y="3822192"/>
            <a:ext cx="10725912" cy="2441448"/>
          </a:xfrm>
          <a:prstGeom prst="roundRect">
            <a:avLst>
              <a:gd name="adj" fmla="val 3960"/>
            </a:avLst>
          </a:prstGeom>
          <a:solidFill>
            <a:srgbClr val="EEF7F3"/>
          </a:solidFill>
          <a:ln w="12700">
            <a:solidFill>
              <a:srgbClr val="D7D0C4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97280" y="4078224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更合理的下一步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97280" y="4498848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80" dirty="0"/>
          </a:p>
        </p:txBody>
      </p:sp>
      <p:sp>
        <p:nvSpPr>
          <p:cNvPr id="23" name="Text 21"/>
          <p:cNvSpPr/>
          <p:nvPr/>
        </p:nvSpPr>
        <p:spPr>
          <a:xfrm>
            <a:off x="1316736" y="4489704"/>
            <a:ext cx="9473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 planner 从启发式升级成带成功率反馈的策略层。</a:t>
            </a:r>
            <a:endParaRPr lang="en-US" sz="1280" dirty="0"/>
          </a:p>
        </p:txBody>
      </p:sp>
      <p:sp>
        <p:nvSpPr>
          <p:cNvPr id="24" name="Text 22"/>
          <p:cNvSpPr/>
          <p:nvPr/>
        </p:nvSpPr>
        <p:spPr>
          <a:xfrm>
            <a:off x="1097280" y="4919472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80" dirty="0"/>
          </a:p>
        </p:txBody>
      </p:sp>
      <p:sp>
        <p:nvSpPr>
          <p:cNvPr id="25" name="Text 23"/>
          <p:cNvSpPr/>
          <p:nvPr/>
        </p:nvSpPr>
        <p:spPr>
          <a:xfrm>
            <a:off x="1316736" y="4910328"/>
            <a:ext cx="9473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为工具结果增加更清晰的结构化摘要协议，而不是主要依赖文本摘要。</a:t>
            </a:r>
            <a:endParaRPr lang="en-US" sz="1280" dirty="0"/>
          </a:p>
        </p:txBody>
      </p:sp>
      <p:sp>
        <p:nvSpPr>
          <p:cNvPr id="26" name="Text 24"/>
          <p:cNvSpPr/>
          <p:nvPr/>
        </p:nvSpPr>
        <p:spPr>
          <a:xfrm>
            <a:off x="1097280" y="5340096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80" dirty="0"/>
          </a:p>
        </p:txBody>
      </p:sp>
      <p:sp>
        <p:nvSpPr>
          <p:cNvPr id="27" name="Text 25"/>
          <p:cNvSpPr/>
          <p:nvPr/>
        </p:nvSpPr>
        <p:spPr>
          <a:xfrm>
            <a:off x="1316736" y="5330952"/>
            <a:ext cx="9473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继续保留边界清晰的前提下，再扩展 provider 与工具生态。</a:t>
            </a:r>
            <a:endParaRPr lang="en-US" sz="1280" dirty="0"/>
          </a:p>
        </p:txBody>
      </p:sp>
      <p:sp>
        <p:nvSpPr>
          <p:cNvPr id="28" name="Text 26"/>
          <p:cNvSpPr/>
          <p:nvPr/>
        </p:nvSpPr>
        <p:spPr>
          <a:xfrm>
            <a:off x="1097280" y="5760720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80" dirty="0"/>
          </a:p>
        </p:txBody>
      </p:sp>
      <p:sp>
        <p:nvSpPr>
          <p:cNvPr id="29" name="Text 27"/>
          <p:cNvSpPr/>
          <p:nvPr/>
        </p:nvSpPr>
        <p:spPr>
          <a:xfrm>
            <a:off x="1316736" y="5751576"/>
            <a:ext cx="9473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在主循环外抽出更多状态机逻辑，防止核心文件持续膨胀。</a:t>
            </a:r>
            <a:endParaRPr lang="en-US" sz="1280" dirty="0"/>
          </a:p>
        </p:txBody>
      </p:sp>
      <p:sp>
        <p:nvSpPr>
          <p:cNvPr id="30" name="Text 28"/>
          <p:cNvSpPr/>
          <p:nvPr/>
        </p:nvSpPr>
        <p:spPr>
          <a:xfrm>
            <a:off x="658368" y="6455664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BDC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code-any / source analysis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78638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结论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248" y="155448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4F1E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code-any 的价值，不在于“做了多少功能”，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F4F1E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而在于它把 coding agent 最关键的工程约束，放在了正确的位置上。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32688" y="3200400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B75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52144" y="3191256"/>
            <a:ext cx="5084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可作为内部分享的 agent 架构入门样板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3621024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B75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52144" y="3611880"/>
            <a:ext cx="5084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可作为后续扩展更复杂工具链的基础代码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32688" y="4041648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B75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52144" y="4032504"/>
            <a:ext cx="5084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也可作为“如何做上下文工程”的教学案例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76288" y="1024128"/>
            <a:ext cx="0" cy="4736592"/>
          </a:xfrm>
          <a:prstGeom prst="line">
            <a:avLst/>
          </a:prstGeom>
          <a:noFill/>
          <a:ln w="12700">
            <a:solidFill>
              <a:srgbClr val="3650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88352" y="1554480"/>
            <a:ext cx="3886200" cy="2194560"/>
          </a:xfrm>
          <a:prstGeom prst="roundRect">
            <a:avLst>
              <a:gd name="adj" fmla="val 3333"/>
            </a:avLst>
          </a:prstGeom>
          <a:solidFill>
            <a:srgbClr val="151B23"/>
          </a:solidFill>
          <a:ln w="12700">
            <a:solidFill>
              <a:srgbClr val="2B3542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571232" y="1682496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5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建议的讲法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571232" y="1938528"/>
            <a:ext cx="3520440" cy="1682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1. 先讲它要解决的问题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2. 再讲主链路和模块分层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3. 最后挑 Explore / Budget / Tool Boundary 深挖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这样 15 页刚好，不会变成逐文件念代码。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06640" y="4187952"/>
            <a:ext cx="3858768" cy="1005840"/>
          </a:xfrm>
          <a:prstGeom prst="roundRect">
            <a:avLst>
              <a:gd name="adj" fmla="val 7273"/>
            </a:avLst>
          </a:prstGeom>
          <a:solidFill>
            <a:srgbClr val="0E6E6E"/>
          </a:solidFill>
          <a:ln w="12700">
            <a:solidFill>
              <a:srgbClr val="0E6E6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0" y="4480560"/>
            <a:ext cx="3858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谢谢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406640" y="5449824"/>
            <a:ext cx="3858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FB2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artifacts/code-any-source-analysis.pptx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58368" y="6455664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BDC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code-any / source analysis / final slide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venir Nex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1402</Words>
  <Application>Microsoft Macintosh PowerPoint</Application>
  <PresentationFormat>宽屏</PresentationFormat>
  <Paragraphs>430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1" baseType="lpstr">
      <vt:lpstr>等线</vt:lpstr>
      <vt:lpstr>PingFang SC</vt:lpstr>
      <vt:lpstr>Arial</vt:lpstr>
      <vt:lpstr>Avenir Next</vt:lpstr>
      <vt:lpstr>Menlo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code-any 源码分析</dc:title>
  <dc:subject>code-any 源码分析</dc:subject>
  <dc:creator>OpenAI Codex</dc:creator>
  <cp:lastModifiedBy>Microsoft Office User</cp:lastModifiedBy>
  <cp:revision>6</cp:revision>
  <dcterms:created xsi:type="dcterms:W3CDTF">2026-04-01T06:37:25Z</dcterms:created>
  <dcterms:modified xsi:type="dcterms:W3CDTF">2026-04-01T06:50:25Z</dcterms:modified>
</cp:coreProperties>
</file>